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1"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404" autoAdjust="0"/>
  </p:normalViewPr>
  <p:slideViewPr>
    <p:cSldViewPr snapToGrid="0">
      <p:cViewPr varScale="1">
        <p:scale>
          <a:sx n="70" d="100"/>
          <a:sy n="70" d="100"/>
        </p:scale>
        <p:origin x="536" y="52"/>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56" d="100"/>
          <a:sy n="56" d="100"/>
        </p:scale>
        <p:origin x="660"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782986-675B-4FBC-8B78-33D03D5DE9C2}" type="datetimeFigureOut">
              <a:rPr lang="en-IN" smtClean="0"/>
              <a:t>12-05-2025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963404-01BF-4931-9773-4ABE6B171B45}" type="slidenum">
              <a:rPr lang="en-IN" smtClean="0"/>
              <a:t>‹#›</a:t>
            </a:fld>
            <a:endParaRPr lang="en-IN"/>
          </a:p>
        </p:txBody>
      </p:sp>
    </p:spTree>
    <p:extLst>
      <p:ext uri="{BB962C8B-B14F-4D97-AF65-F5344CB8AC3E}">
        <p14:creationId xmlns:p14="http://schemas.microsoft.com/office/powerpoint/2010/main" val="40841162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6963404-01BF-4931-9773-4ABE6B171B45}" type="slidenum">
              <a:rPr lang="en-IN" smtClean="0"/>
              <a:t>8</a:t>
            </a:fld>
            <a:endParaRPr lang="en-IN"/>
          </a:p>
        </p:txBody>
      </p:sp>
    </p:spTree>
    <p:extLst>
      <p:ext uri="{BB962C8B-B14F-4D97-AF65-F5344CB8AC3E}">
        <p14:creationId xmlns:p14="http://schemas.microsoft.com/office/powerpoint/2010/main" val="41432316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6963404-01BF-4931-9773-4ABE6B171B45}" type="slidenum">
              <a:rPr lang="en-IN" smtClean="0"/>
              <a:t>22</a:t>
            </a:fld>
            <a:endParaRPr lang="en-IN"/>
          </a:p>
        </p:txBody>
      </p:sp>
    </p:spTree>
    <p:extLst>
      <p:ext uri="{BB962C8B-B14F-4D97-AF65-F5344CB8AC3E}">
        <p14:creationId xmlns:p14="http://schemas.microsoft.com/office/powerpoint/2010/main" val="19650153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3183F-164A-9FD8-E4CB-F07DED9F86C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E38C65C-17C4-9680-26E6-8901D5CE9BB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6F3CEB7-4F7D-3872-F0EB-503C6A2DB048}"/>
              </a:ext>
            </a:extLst>
          </p:cNvPr>
          <p:cNvSpPr>
            <a:spLocks noGrp="1"/>
          </p:cNvSpPr>
          <p:nvPr>
            <p:ph type="dt" sz="half" idx="10"/>
          </p:nvPr>
        </p:nvSpPr>
        <p:spPr/>
        <p:txBody>
          <a:bodyPr/>
          <a:lstStyle/>
          <a:p>
            <a:fld id="{DE617E57-0E3E-49CA-A591-6F35B3BCBDFA}" type="datetimeFigureOut">
              <a:rPr lang="en-IN" smtClean="0"/>
              <a:t>12-05-2025</a:t>
            </a:fld>
            <a:endParaRPr lang="en-IN"/>
          </a:p>
        </p:txBody>
      </p:sp>
      <p:sp>
        <p:nvSpPr>
          <p:cNvPr id="5" name="Footer Placeholder 4">
            <a:extLst>
              <a:ext uri="{FF2B5EF4-FFF2-40B4-BE49-F238E27FC236}">
                <a16:creationId xmlns:a16="http://schemas.microsoft.com/office/drawing/2014/main" id="{E99BF752-CC13-012B-1221-9051AD08431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DB8D02F-CDC5-E1FD-A366-790C91436D2D}"/>
              </a:ext>
            </a:extLst>
          </p:cNvPr>
          <p:cNvSpPr>
            <a:spLocks noGrp="1"/>
          </p:cNvSpPr>
          <p:nvPr>
            <p:ph type="sldNum" sz="quarter" idx="12"/>
          </p:nvPr>
        </p:nvSpPr>
        <p:spPr/>
        <p:txBody>
          <a:bodyPr/>
          <a:lstStyle/>
          <a:p>
            <a:fld id="{748DEDB4-F597-4825-8F59-9BB34A5C81A9}" type="slidenum">
              <a:rPr lang="en-IN" smtClean="0"/>
              <a:t>‹#›</a:t>
            </a:fld>
            <a:endParaRPr lang="en-IN"/>
          </a:p>
        </p:txBody>
      </p:sp>
    </p:spTree>
    <p:extLst>
      <p:ext uri="{BB962C8B-B14F-4D97-AF65-F5344CB8AC3E}">
        <p14:creationId xmlns:p14="http://schemas.microsoft.com/office/powerpoint/2010/main" val="29097703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49193-A145-FCD0-7D1D-DDE9AC68DC5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3E5F3C5-B62D-F5A4-360A-D433ABF1516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2BECC2B-A977-12D6-9B79-DEB4E074E3D3}"/>
              </a:ext>
            </a:extLst>
          </p:cNvPr>
          <p:cNvSpPr>
            <a:spLocks noGrp="1"/>
          </p:cNvSpPr>
          <p:nvPr>
            <p:ph type="dt" sz="half" idx="10"/>
          </p:nvPr>
        </p:nvSpPr>
        <p:spPr/>
        <p:txBody>
          <a:bodyPr/>
          <a:lstStyle/>
          <a:p>
            <a:fld id="{DE617E57-0E3E-49CA-A591-6F35B3BCBDFA}" type="datetimeFigureOut">
              <a:rPr lang="en-IN" smtClean="0"/>
              <a:t>12-05-2025</a:t>
            </a:fld>
            <a:endParaRPr lang="en-IN"/>
          </a:p>
        </p:txBody>
      </p:sp>
      <p:sp>
        <p:nvSpPr>
          <p:cNvPr id="5" name="Footer Placeholder 4">
            <a:extLst>
              <a:ext uri="{FF2B5EF4-FFF2-40B4-BE49-F238E27FC236}">
                <a16:creationId xmlns:a16="http://schemas.microsoft.com/office/drawing/2014/main" id="{34305FB6-9C4F-32EF-A349-EA5F73D545C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9536BFA-847C-CDBD-DF09-E7AC0074B20D}"/>
              </a:ext>
            </a:extLst>
          </p:cNvPr>
          <p:cNvSpPr>
            <a:spLocks noGrp="1"/>
          </p:cNvSpPr>
          <p:nvPr>
            <p:ph type="sldNum" sz="quarter" idx="12"/>
          </p:nvPr>
        </p:nvSpPr>
        <p:spPr/>
        <p:txBody>
          <a:bodyPr/>
          <a:lstStyle/>
          <a:p>
            <a:fld id="{748DEDB4-F597-4825-8F59-9BB34A5C81A9}" type="slidenum">
              <a:rPr lang="en-IN" smtClean="0"/>
              <a:t>‹#›</a:t>
            </a:fld>
            <a:endParaRPr lang="en-IN"/>
          </a:p>
        </p:txBody>
      </p:sp>
    </p:spTree>
    <p:extLst>
      <p:ext uri="{BB962C8B-B14F-4D97-AF65-F5344CB8AC3E}">
        <p14:creationId xmlns:p14="http://schemas.microsoft.com/office/powerpoint/2010/main" val="3790499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BC01B-FEDB-29F1-647A-24A737A2498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B739474-6734-C96E-5C60-B2B4A56FEE6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6A5B0AC-3459-A83B-6025-27C5B5462613}"/>
              </a:ext>
            </a:extLst>
          </p:cNvPr>
          <p:cNvSpPr>
            <a:spLocks noGrp="1"/>
          </p:cNvSpPr>
          <p:nvPr>
            <p:ph type="dt" sz="half" idx="10"/>
          </p:nvPr>
        </p:nvSpPr>
        <p:spPr/>
        <p:txBody>
          <a:bodyPr/>
          <a:lstStyle/>
          <a:p>
            <a:fld id="{DE617E57-0E3E-49CA-A591-6F35B3BCBDFA}" type="datetimeFigureOut">
              <a:rPr lang="en-IN" smtClean="0"/>
              <a:t>12-05-2025</a:t>
            </a:fld>
            <a:endParaRPr lang="en-IN"/>
          </a:p>
        </p:txBody>
      </p:sp>
      <p:sp>
        <p:nvSpPr>
          <p:cNvPr id="5" name="Footer Placeholder 4">
            <a:extLst>
              <a:ext uri="{FF2B5EF4-FFF2-40B4-BE49-F238E27FC236}">
                <a16:creationId xmlns:a16="http://schemas.microsoft.com/office/drawing/2014/main" id="{D4B3960F-DF94-453B-2D36-ABD8802BCBB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8A5B8C1-024E-8259-CA02-33D25E1982B6}"/>
              </a:ext>
            </a:extLst>
          </p:cNvPr>
          <p:cNvSpPr>
            <a:spLocks noGrp="1"/>
          </p:cNvSpPr>
          <p:nvPr>
            <p:ph type="sldNum" sz="quarter" idx="12"/>
          </p:nvPr>
        </p:nvSpPr>
        <p:spPr/>
        <p:txBody>
          <a:bodyPr/>
          <a:lstStyle/>
          <a:p>
            <a:fld id="{748DEDB4-F597-4825-8F59-9BB34A5C81A9}" type="slidenum">
              <a:rPr lang="en-IN" smtClean="0"/>
              <a:t>‹#›</a:t>
            </a:fld>
            <a:endParaRPr lang="en-IN"/>
          </a:p>
        </p:txBody>
      </p:sp>
    </p:spTree>
    <p:extLst>
      <p:ext uri="{BB962C8B-B14F-4D97-AF65-F5344CB8AC3E}">
        <p14:creationId xmlns:p14="http://schemas.microsoft.com/office/powerpoint/2010/main" val="21072927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797BCA-53E0-A0F8-F403-A9332849E66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5F936DB-33ED-A4FE-D587-AAD6F4B118D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5F0C83A-471D-429A-0433-93045163D22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F97F2BD-40BC-78B8-8D80-2999879A8739}"/>
              </a:ext>
            </a:extLst>
          </p:cNvPr>
          <p:cNvSpPr>
            <a:spLocks noGrp="1"/>
          </p:cNvSpPr>
          <p:nvPr>
            <p:ph type="dt" sz="half" idx="10"/>
          </p:nvPr>
        </p:nvSpPr>
        <p:spPr/>
        <p:txBody>
          <a:bodyPr/>
          <a:lstStyle/>
          <a:p>
            <a:fld id="{DE617E57-0E3E-49CA-A591-6F35B3BCBDFA}" type="datetimeFigureOut">
              <a:rPr lang="en-IN" smtClean="0"/>
              <a:t>12-05-2025</a:t>
            </a:fld>
            <a:endParaRPr lang="en-IN"/>
          </a:p>
        </p:txBody>
      </p:sp>
      <p:sp>
        <p:nvSpPr>
          <p:cNvPr id="6" name="Footer Placeholder 5">
            <a:extLst>
              <a:ext uri="{FF2B5EF4-FFF2-40B4-BE49-F238E27FC236}">
                <a16:creationId xmlns:a16="http://schemas.microsoft.com/office/drawing/2014/main" id="{4CC59F5B-E855-7BEC-AF0A-FEA052BBDFD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630AEB4-7A96-27E9-C67C-31072C0AA1F8}"/>
              </a:ext>
            </a:extLst>
          </p:cNvPr>
          <p:cNvSpPr>
            <a:spLocks noGrp="1"/>
          </p:cNvSpPr>
          <p:nvPr>
            <p:ph type="sldNum" sz="quarter" idx="12"/>
          </p:nvPr>
        </p:nvSpPr>
        <p:spPr/>
        <p:txBody>
          <a:bodyPr/>
          <a:lstStyle/>
          <a:p>
            <a:fld id="{748DEDB4-F597-4825-8F59-9BB34A5C81A9}" type="slidenum">
              <a:rPr lang="en-IN" smtClean="0"/>
              <a:t>‹#›</a:t>
            </a:fld>
            <a:endParaRPr lang="en-IN"/>
          </a:p>
        </p:txBody>
      </p:sp>
    </p:spTree>
    <p:extLst>
      <p:ext uri="{BB962C8B-B14F-4D97-AF65-F5344CB8AC3E}">
        <p14:creationId xmlns:p14="http://schemas.microsoft.com/office/powerpoint/2010/main" val="2365896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215AB-AFF1-733D-2E35-B7A017127A5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4BA956D-EEE6-D158-F0DF-F1876EC5026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A9586C1-587A-9764-BD37-F121C78751D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1AA0D02-0744-A2AE-BABD-D5A330D2608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17CB104-4A0D-5565-521C-43138176872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03726AC-6274-F679-19A1-40CB98B9BE58}"/>
              </a:ext>
            </a:extLst>
          </p:cNvPr>
          <p:cNvSpPr>
            <a:spLocks noGrp="1"/>
          </p:cNvSpPr>
          <p:nvPr>
            <p:ph type="dt" sz="half" idx="10"/>
          </p:nvPr>
        </p:nvSpPr>
        <p:spPr/>
        <p:txBody>
          <a:bodyPr/>
          <a:lstStyle/>
          <a:p>
            <a:fld id="{DE617E57-0E3E-49CA-A591-6F35B3BCBDFA}" type="datetimeFigureOut">
              <a:rPr lang="en-IN" smtClean="0"/>
              <a:t>12-05-2025</a:t>
            </a:fld>
            <a:endParaRPr lang="en-IN"/>
          </a:p>
        </p:txBody>
      </p:sp>
      <p:sp>
        <p:nvSpPr>
          <p:cNvPr id="8" name="Footer Placeholder 7">
            <a:extLst>
              <a:ext uri="{FF2B5EF4-FFF2-40B4-BE49-F238E27FC236}">
                <a16:creationId xmlns:a16="http://schemas.microsoft.com/office/drawing/2014/main" id="{E83CBA58-6F65-D6EB-A827-DA1ACB854BC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AB96A78-035B-3EA2-9F65-889468781F1A}"/>
              </a:ext>
            </a:extLst>
          </p:cNvPr>
          <p:cNvSpPr>
            <a:spLocks noGrp="1"/>
          </p:cNvSpPr>
          <p:nvPr>
            <p:ph type="sldNum" sz="quarter" idx="12"/>
          </p:nvPr>
        </p:nvSpPr>
        <p:spPr/>
        <p:txBody>
          <a:bodyPr/>
          <a:lstStyle/>
          <a:p>
            <a:fld id="{748DEDB4-F597-4825-8F59-9BB34A5C81A9}" type="slidenum">
              <a:rPr lang="en-IN" smtClean="0"/>
              <a:t>‹#›</a:t>
            </a:fld>
            <a:endParaRPr lang="en-IN"/>
          </a:p>
        </p:txBody>
      </p:sp>
    </p:spTree>
    <p:extLst>
      <p:ext uri="{BB962C8B-B14F-4D97-AF65-F5344CB8AC3E}">
        <p14:creationId xmlns:p14="http://schemas.microsoft.com/office/powerpoint/2010/main" val="36054060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B9A41-205A-0A3D-408E-AF788969754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B7FDFB4-8624-7CCC-EF2E-F534877A7C74}"/>
              </a:ext>
            </a:extLst>
          </p:cNvPr>
          <p:cNvSpPr>
            <a:spLocks noGrp="1"/>
          </p:cNvSpPr>
          <p:nvPr>
            <p:ph type="dt" sz="half" idx="10"/>
          </p:nvPr>
        </p:nvSpPr>
        <p:spPr/>
        <p:txBody>
          <a:bodyPr/>
          <a:lstStyle/>
          <a:p>
            <a:fld id="{DE617E57-0E3E-49CA-A591-6F35B3BCBDFA}" type="datetimeFigureOut">
              <a:rPr lang="en-IN" smtClean="0"/>
              <a:t>12-05-2025</a:t>
            </a:fld>
            <a:endParaRPr lang="en-IN"/>
          </a:p>
        </p:txBody>
      </p:sp>
      <p:sp>
        <p:nvSpPr>
          <p:cNvPr id="4" name="Footer Placeholder 3">
            <a:extLst>
              <a:ext uri="{FF2B5EF4-FFF2-40B4-BE49-F238E27FC236}">
                <a16:creationId xmlns:a16="http://schemas.microsoft.com/office/drawing/2014/main" id="{FEB1FBE8-E09F-7FCE-481A-A23DAAD975B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68B54AC-E6EA-274A-DF9D-A6F459CBD824}"/>
              </a:ext>
            </a:extLst>
          </p:cNvPr>
          <p:cNvSpPr>
            <a:spLocks noGrp="1"/>
          </p:cNvSpPr>
          <p:nvPr>
            <p:ph type="sldNum" sz="quarter" idx="12"/>
          </p:nvPr>
        </p:nvSpPr>
        <p:spPr/>
        <p:txBody>
          <a:bodyPr/>
          <a:lstStyle/>
          <a:p>
            <a:fld id="{748DEDB4-F597-4825-8F59-9BB34A5C81A9}" type="slidenum">
              <a:rPr lang="en-IN" smtClean="0"/>
              <a:t>‹#›</a:t>
            </a:fld>
            <a:endParaRPr lang="en-IN"/>
          </a:p>
        </p:txBody>
      </p:sp>
    </p:spTree>
    <p:extLst>
      <p:ext uri="{BB962C8B-B14F-4D97-AF65-F5344CB8AC3E}">
        <p14:creationId xmlns:p14="http://schemas.microsoft.com/office/powerpoint/2010/main" val="28496812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5B7342C-534A-4776-7AEF-A92BF04EEAEF}"/>
              </a:ext>
            </a:extLst>
          </p:cNvPr>
          <p:cNvSpPr>
            <a:spLocks noGrp="1"/>
          </p:cNvSpPr>
          <p:nvPr>
            <p:ph type="dt" sz="half" idx="10"/>
          </p:nvPr>
        </p:nvSpPr>
        <p:spPr/>
        <p:txBody>
          <a:bodyPr/>
          <a:lstStyle/>
          <a:p>
            <a:fld id="{DE617E57-0E3E-49CA-A591-6F35B3BCBDFA}" type="datetimeFigureOut">
              <a:rPr lang="en-IN" smtClean="0"/>
              <a:t>12-05-2025</a:t>
            </a:fld>
            <a:endParaRPr lang="en-IN"/>
          </a:p>
        </p:txBody>
      </p:sp>
      <p:sp>
        <p:nvSpPr>
          <p:cNvPr id="3" name="Footer Placeholder 2">
            <a:extLst>
              <a:ext uri="{FF2B5EF4-FFF2-40B4-BE49-F238E27FC236}">
                <a16:creationId xmlns:a16="http://schemas.microsoft.com/office/drawing/2014/main" id="{107E8D9A-4C1C-0D4C-B521-C4334A964C8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AE56529-DC04-5436-7897-F1E2898992BC}"/>
              </a:ext>
            </a:extLst>
          </p:cNvPr>
          <p:cNvSpPr>
            <a:spLocks noGrp="1"/>
          </p:cNvSpPr>
          <p:nvPr>
            <p:ph type="sldNum" sz="quarter" idx="12"/>
          </p:nvPr>
        </p:nvSpPr>
        <p:spPr/>
        <p:txBody>
          <a:bodyPr/>
          <a:lstStyle/>
          <a:p>
            <a:fld id="{748DEDB4-F597-4825-8F59-9BB34A5C81A9}" type="slidenum">
              <a:rPr lang="en-IN" smtClean="0"/>
              <a:t>‹#›</a:t>
            </a:fld>
            <a:endParaRPr lang="en-IN"/>
          </a:p>
        </p:txBody>
      </p:sp>
    </p:spTree>
    <p:extLst>
      <p:ext uri="{BB962C8B-B14F-4D97-AF65-F5344CB8AC3E}">
        <p14:creationId xmlns:p14="http://schemas.microsoft.com/office/powerpoint/2010/main" val="14070522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1EF71-E4F7-64E4-9688-EFCB26AF39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584F4D8-D9B3-0B04-41C8-A55FCA78113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E272ADC-314F-2B86-B6D4-37076D5BD0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3C4671D-0E2A-7DCF-DC3E-250271A95DE6}"/>
              </a:ext>
            </a:extLst>
          </p:cNvPr>
          <p:cNvSpPr>
            <a:spLocks noGrp="1"/>
          </p:cNvSpPr>
          <p:nvPr>
            <p:ph type="dt" sz="half" idx="10"/>
          </p:nvPr>
        </p:nvSpPr>
        <p:spPr/>
        <p:txBody>
          <a:bodyPr/>
          <a:lstStyle/>
          <a:p>
            <a:fld id="{DE617E57-0E3E-49CA-A591-6F35B3BCBDFA}" type="datetimeFigureOut">
              <a:rPr lang="en-IN" smtClean="0"/>
              <a:t>12-05-2025</a:t>
            </a:fld>
            <a:endParaRPr lang="en-IN"/>
          </a:p>
        </p:txBody>
      </p:sp>
      <p:sp>
        <p:nvSpPr>
          <p:cNvPr id="6" name="Footer Placeholder 5">
            <a:extLst>
              <a:ext uri="{FF2B5EF4-FFF2-40B4-BE49-F238E27FC236}">
                <a16:creationId xmlns:a16="http://schemas.microsoft.com/office/drawing/2014/main" id="{A5F9A4CD-CE13-8966-34B7-BA2FC617F0C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DFF9079-97B5-2DD2-C1F5-720CD3A1497D}"/>
              </a:ext>
            </a:extLst>
          </p:cNvPr>
          <p:cNvSpPr>
            <a:spLocks noGrp="1"/>
          </p:cNvSpPr>
          <p:nvPr>
            <p:ph type="sldNum" sz="quarter" idx="12"/>
          </p:nvPr>
        </p:nvSpPr>
        <p:spPr/>
        <p:txBody>
          <a:bodyPr/>
          <a:lstStyle/>
          <a:p>
            <a:fld id="{748DEDB4-F597-4825-8F59-9BB34A5C81A9}" type="slidenum">
              <a:rPr lang="en-IN" smtClean="0"/>
              <a:t>‹#›</a:t>
            </a:fld>
            <a:endParaRPr lang="en-IN"/>
          </a:p>
        </p:txBody>
      </p:sp>
    </p:spTree>
    <p:extLst>
      <p:ext uri="{BB962C8B-B14F-4D97-AF65-F5344CB8AC3E}">
        <p14:creationId xmlns:p14="http://schemas.microsoft.com/office/powerpoint/2010/main" val="2210531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DA521-D9D0-C654-ABEC-DD1B3F988C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3F4C1B0-F579-8F31-E99E-AE09BD1DAA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2ACF38E-72F3-5AFC-E488-653061B1F2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4BA7A7D-D4FC-85F4-A600-A0D7BC8646A3}"/>
              </a:ext>
            </a:extLst>
          </p:cNvPr>
          <p:cNvSpPr>
            <a:spLocks noGrp="1"/>
          </p:cNvSpPr>
          <p:nvPr>
            <p:ph type="dt" sz="half" idx="10"/>
          </p:nvPr>
        </p:nvSpPr>
        <p:spPr/>
        <p:txBody>
          <a:bodyPr/>
          <a:lstStyle/>
          <a:p>
            <a:fld id="{DE617E57-0E3E-49CA-A591-6F35B3BCBDFA}" type="datetimeFigureOut">
              <a:rPr lang="en-IN" smtClean="0"/>
              <a:t>12-05-2025</a:t>
            </a:fld>
            <a:endParaRPr lang="en-IN"/>
          </a:p>
        </p:txBody>
      </p:sp>
      <p:sp>
        <p:nvSpPr>
          <p:cNvPr id="6" name="Footer Placeholder 5">
            <a:extLst>
              <a:ext uri="{FF2B5EF4-FFF2-40B4-BE49-F238E27FC236}">
                <a16:creationId xmlns:a16="http://schemas.microsoft.com/office/drawing/2014/main" id="{2B2FBA95-3556-1AA2-D7E9-9FC8ADD2391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5C85C64-1BE3-DDFF-D598-87F10CAC3DAC}"/>
              </a:ext>
            </a:extLst>
          </p:cNvPr>
          <p:cNvSpPr>
            <a:spLocks noGrp="1"/>
          </p:cNvSpPr>
          <p:nvPr>
            <p:ph type="sldNum" sz="quarter" idx="12"/>
          </p:nvPr>
        </p:nvSpPr>
        <p:spPr/>
        <p:txBody>
          <a:bodyPr/>
          <a:lstStyle/>
          <a:p>
            <a:fld id="{748DEDB4-F597-4825-8F59-9BB34A5C81A9}" type="slidenum">
              <a:rPr lang="en-IN" smtClean="0"/>
              <a:t>‹#›</a:t>
            </a:fld>
            <a:endParaRPr lang="en-IN"/>
          </a:p>
        </p:txBody>
      </p:sp>
    </p:spTree>
    <p:extLst>
      <p:ext uri="{BB962C8B-B14F-4D97-AF65-F5344CB8AC3E}">
        <p14:creationId xmlns:p14="http://schemas.microsoft.com/office/powerpoint/2010/main" val="7829087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E8205-4323-D630-882F-44D12321545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206EA9A-83B5-5AE9-9C7D-D9DDB68076F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B40121C-0353-78CB-21C3-0A00BA97D9FD}"/>
              </a:ext>
            </a:extLst>
          </p:cNvPr>
          <p:cNvSpPr>
            <a:spLocks noGrp="1"/>
          </p:cNvSpPr>
          <p:nvPr>
            <p:ph type="dt" sz="half" idx="10"/>
          </p:nvPr>
        </p:nvSpPr>
        <p:spPr/>
        <p:txBody>
          <a:bodyPr/>
          <a:lstStyle/>
          <a:p>
            <a:fld id="{DE617E57-0E3E-49CA-A591-6F35B3BCBDFA}" type="datetimeFigureOut">
              <a:rPr lang="en-IN" smtClean="0"/>
              <a:t>12-05-2025</a:t>
            </a:fld>
            <a:endParaRPr lang="en-IN"/>
          </a:p>
        </p:txBody>
      </p:sp>
      <p:sp>
        <p:nvSpPr>
          <p:cNvPr id="5" name="Footer Placeholder 4">
            <a:extLst>
              <a:ext uri="{FF2B5EF4-FFF2-40B4-BE49-F238E27FC236}">
                <a16:creationId xmlns:a16="http://schemas.microsoft.com/office/drawing/2014/main" id="{F22683ED-735A-1657-DACC-86A56685550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F343ACF-89E5-1922-DF41-01D1401330B2}"/>
              </a:ext>
            </a:extLst>
          </p:cNvPr>
          <p:cNvSpPr>
            <a:spLocks noGrp="1"/>
          </p:cNvSpPr>
          <p:nvPr>
            <p:ph type="sldNum" sz="quarter" idx="12"/>
          </p:nvPr>
        </p:nvSpPr>
        <p:spPr/>
        <p:txBody>
          <a:bodyPr/>
          <a:lstStyle/>
          <a:p>
            <a:fld id="{748DEDB4-F597-4825-8F59-9BB34A5C81A9}" type="slidenum">
              <a:rPr lang="en-IN" smtClean="0"/>
              <a:t>‹#›</a:t>
            </a:fld>
            <a:endParaRPr lang="en-IN"/>
          </a:p>
        </p:txBody>
      </p:sp>
    </p:spTree>
    <p:extLst>
      <p:ext uri="{BB962C8B-B14F-4D97-AF65-F5344CB8AC3E}">
        <p14:creationId xmlns:p14="http://schemas.microsoft.com/office/powerpoint/2010/main" val="37037796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CE13C4D-A090-399B-E9C0-50D505816CD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FCB12CC-3B3D-C74F-CA61-008D43C2BB1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20A8CF2-1FD5-18A4-687D-3146EE3EAD33}"/>
              </a:ext>
            </a:extLst>
          </p:cNvPr>
          <p:cNvSpPr>
            <a:spLocks noGrp="1"/>
          </p:cNvSpPr>
          <p:nvPr>
            <p:ph type="dt" sz="half" idx="10"/>
          </p:nvPr>
        </p:nvSpPr>
        <p:spPr/>
        <p:txBody>
          <a:bodyPr/>
          <a:lstStyle/>
          <a:p>
            <a:fld id="{DE617E57-0E3E-49CA-A591-6F35B3BCBDFA}" type="datetimeFigureOut">
              <a:rPr lang="en-IN" smtClean="0"/>
              <a:t>12-05-2025</a:t>
            </a:fld>
            <a:endParaRPr lang="en-IN"/>
          </a:p>
        </p:txBody>
      </p:sp>
      <p:sp>
        <p:nvSpPr>
          <p:cNvPr id="5" name="Footer Placeholder 4">
            <a:extLst>
              <a:ext uri="{FF2B5EF4-FFF2-40B4-BE49-F238E27FC236}">
                <a16:creationId xmlns:a16="http://schemas.microsoft.com/office/drawing/2014/main" id="{31D63F25-DEF2-A366-1813-43B7687242F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6270396-1732-7168-D227-BEFC4FFB0D18}"/>
              </a:ext>
            </a:extLst>
          </p:cNvPr>
          <p:cNvSpPr>
            <a:spLocks noGrp="1"/>
          </p:cNvSpPr>
          <p:nvPr>
            <p:ph type="sldNum" sz="quarter" idx="12"/>
          </p:nvPr>
        </p:nvSpPr>
        <p:spPr/>
        <p:txBody>
          <a:bodyPr/>
          <a:lstStyle/>
          <a:p>
            <a:fld id="{748DEDB4-F597-4825-8F59-9BB34A5C81A9}" type="slidenum">
              <a:rPr lang="en-IN" smtClean="0"/>
              <a:t>‹#›</a:t>
            </a:fld>
            <a:endParaRPr lang="en-IN"/>
          </a:p>
        </p:txBody>
      </p:sp>
    </p:spTree>
    <p:extLst>
      <p:ext uri="{BB962C8B-B14F-4D97-AF65-F5344CB8AC3E}">
        <p14:creationId xmlns:p14="http://schemas.microsoft.com/office/powerpoint/2010/main" val="28724636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917228-BC62-B82A-AB84-37C805C9ED67}"/>
              </a:ext>
            </a:extLst>
          </p:cNvPr>
          <p:cNvSpPr>
            <a:spLocks noGrp="1"/>
          </p:cNvSpPr>
          <p:nvPr>
            <p:ph idx="1"/>
          </p:nvPr>
        </p:nvSpPr>
        <p:spPr/>
        <p:txBody>
          <a:bodyPr/>
          <a:lstStyle>
            <a:lvl2pPr>
              <a:defRPr sz="1600" spc="100" baseline="0">
                <a:latin typeface="Arial" panose="020B0604020202020204" pitchFamily="34" charset="0"/>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Date Placeholder 6">
            <a:extLst>
              <a:ext uri="{FF2B5EF4-FFF2-40B4-BE49-F238E27FC236}">
                <a16:creationId xmlns:a16="http://schemas.microsoft.com/office/drawing/2014/main" id="{B4EFD918-9427-DD01-E168-1576C483C8D2}"/>
              </a:ext>
            </a:extLst>
          </p:cNvPr>
          <p:cNvSpPr>
            <a:spLocks noGrp="1"/>
          </p:cNvSpPr>
          <p:nvPr>
            <p:ph type="dt" sz="half" idx="10"/>
          </p:nvPr>
        </p:nvSpPr>
        <p:spPr/>
        <p:txBody>
          <a:bodyPr/>
          <a:lstStyle/>
          <a:p>
            <a:fld id="{DE617E57-0E3E-49CA-A591-6F35B3BCBDFA}" type="datetimeFigureOut">
              <a:rPr lang="en-IN" smtClean="0"/>
              <a:t>12-05-2025</a:t>
            </a:fld>
            <a:endParaRPr lang="en-IN"/>
          </a:p>
        </p:txBody>
      </p:sp>
      <p:sp>
        <p:nvSpPr>
          <p:cNvPr id="8" name="Footer Placeholder 7">
            <a:extLst>
              <a:ext uri="{FF2B5EF4-FFF2-40B4-BE49-F238E27FC236}">
                <a16:creationId xmlns:a16="http://schemas.microsoft.com/office/drawing/2014/main" id="{47CFDFFC-A9F9-37B5-F9C7-71CDBC8BA92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2A64424-461E-80F3-CFE7-002FFC79C82B}"/>
              </a:ext>
            </a:extLst>
          </p:cNvPr>
          <p:cNvSpPr>
            <a:spLocks noGrp="1"/>
          </p:cNvSpPr>
          <p:nvPr>
            <p:ph type="sldNum" sz="quarter" idx="12"/>
          </p:nvPr>
        </p:nvSpPr>
        <p:spPr/>
        <p:txBody>
          <a:bodyPr/>
          <a:lstStyle/>
          <a:p>
            <a:fld id="{748DEDB4-F597-4825-8F59-9BB34A5C81A9}" type="slidenum">
              <a:rPr lang="en-IN" smtClean="0"/>
              <a:t>‹#›</a:t>
            </a:fld>
            <a:endParaRPr lang="en-IN"/>
          </a:p>
        </p:txBody>
      </p:sp>
    </p:spTree>
    <p:extLst>
      <p:ext uri="{BB962C8B-B14F-4D97-AF65-F5344CB8AC3E}">
        <p14:creationId xmlns:p14="http://schemas.microsoft.com/office/powerpoint/2010/main" val="16581002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917228-BC62-B82A-AB84-37C805C9ED67}"/>
              </a:ext>
            </a:extLst>
          </p:cNvPr>
          <p:cNvSpPr>
            <a:spLocks noGrp="1"/>
          </p:cNvSpPr>
          <p:nvPr>
            <p:ph idx="1"/>
          </p:nvPr>
        </p:nvSpPr>
        <p:spPr/>
        <p:txBody>
          <a:bodyPr/>
          <a:lstStyle>
            <a:lvl2pPr>
              <a:defRPr sz="1600" spc="100" baseline="0">
                <a:latin typeface="Arial" panose="020B0604020202020204" pitchFamily="34" charset="0"/>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Date Placeholder 6">
            <a:extLst>
              <a:ext uri="{FF2B5EF4-FFF2-40B4-BE49-F238E27FC236}">
                <a16:creationId xmlns:a16="http://schemas.microsoft.com/office/drawing/2014/main" id="{B4EFD918-9427-DD01-E168-1576C483C8D2}"/>
              </a:ext>
            </a:extLst>
          </p:cNvPr>
          <p:cNvSpPr>
            <a:spLocks noGrp="1"/>
          </p:cNvSpPr>
          <p:nvPr>
            <p:ph type="dt" sz="half" idx="10"/>
          </p:nvPr>
        </p:nvSpPr>
        <p:spPr/>
        <p:txBody>
          <a:bodyPr/>
          <a:lstStyle/>
          <a:p>
            <a:fld id="{DE617E57-0E3E-49CA-A591-6F35B3BCBDFA}" type="datetimeFigureOut">
              <a:rPr lang="en-IN" smtClean="0"/>
              <a:t>12-05-2025</a:t>
            </a:fld>
            <a:endParaRPr lang="en-IN"/>
          </a:p>
        </p:txBody>
      </p:sp>
      <p:sp>
        <p:nvSpPr>
          <p:cNvPr id="8" name="Footer Placeholder 7">
            <a:extLst>
              <a:ext uri="{FF2B5EF4-FFF2-40B4-BE49-F238E27FC236}">
                <a16:creationId xmlns:a16="http://schemas.microsoft.com/office/drawing/2014/main" id="{47CFDFFC-A9F9-37B5-F9C7-71CDBC8BA92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2A64424-461E-80F3-CFE7-002FFC79C82B}"/>
              </a:ext>
            </a:extLst>
          </p:cNvPr>
          <p:cNvSpPr>
            <a:spLocks noGrp="1"/>
          </p:cNvSpPr>
          <p:nvPr>
            <p:ph type="sldNum" sz="quarter" idx="12"/>
          </p:nvPr>
        </p:nvSpPr>
        <p:spPr/>
        <p:txBody>
          <a:bodyPr/>
          <a:lstStyle/>
          <a:p>
            <a:fld id="{748DEDB4-F597-4825-8F59-9BB34A5C81A9}" type="slidenum">
              <a:rPr lang="en-IN" smtClean="0"/>
              <a:t>‹#›</a:t>
            </a:fld>
            <a:endParaRPr lang="en-IN"/>
          </a:p>
        </p:txBody>
      </p:sp>
    </p:spTree>
    <p:extLst>
      <p:ext uri="{BB962C8B-B14F-4D97-AF65-F5344CB8AC3E}">
        <p14:creationId xmlns:p14="http://schemas.microsoft.com/office/powerpoint/2010/main" val="34620032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917228-BC62-B82A-AB84-37C805C9ED67}"/>
              </a:ext>
            </a:extLst>
          </p:cNvPr>
          <p:cNvSpPr>
            <a:spLocks noGrp="1"/>
          </p:cNvSpPr>
          <p:nvPr>
            <p:ph idx="1"/>
          </p:nvPr>
        </p:nvSpPr>
        <p:spPr/>
        <p:txBody>
          <a:bodyPr/>
          <a:lstStyle>
            <a:lvl2pPr>
              <a:defRPr sz="1600" spc="100" baseline="0">
                <a:latin typeface="Arial" panose="020B0604020202020204" pitchFamily="34" charset="0"/>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Date Placeholder 6">
            <a:extLst>
              <a:ext uri="{FF2B5EF4-FFF2-40B4-BE49-F238E27FC236}">
                <a16:creationId xmlns:a16="http://schemas.microsoft.com/office/drawing/2014/main" id="{B4EFD918-9427-DD01-E168-1576C483C8D2}"/>
              </a:ext>
            </a:extLst>
          </p:cNvPr>
          <p:cNvSpPr>
            <a:spLocks noGrp="1"/>
          </p:cNvSpPr>
          <p:nvPr>
            <p:ph type="dt" sz="half" idx="10"/>
          </p:nvPr>
        </p:nvSpPr>
        <p:spPr/>
        <p:txBody>
          <a:bodyPr/>
          <a:lstStyle/>
          <a:p>
            <a:fld id="{DE617E57-0E3E-49CA-A591-6F35B3BCBDFA}" type="datetimeFigureOut">
              <a:rPr lang="en-IN" smtClean="0"/>
              <a:t>12-05-2025</a:t>
            </a:fld>
            <a:endParaRPr lang="en-IN"/>
          </a:p>
        </p:txBody>
      </p:sp>
      <p:sp>
        <p:nvSpPr>
          <p:cNvPr id="8" name="Footer Placeholder 7">
            <a:extLst>
              <a:ext uri="{FF2B5EF4-FFF2-40B4-BE49-F238E27FC236}">
                <a16:creationId xmlns:a16="http://schemas.microsoft.com/office/drawing/2014/main" id="{47CFDFFC-A9F9-37B5-F9C7-71CDBC8BA92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2A64424-461E-80F3-CFE7-002FFC79C82B}"/>
              </a:ext>
            </a:extLst>
          </p:cNvPr>
          <p:cNvSpPr>
            <a:spLocks noGrp="1"/>
          </p:cNvSpPr>
          <p:nvPr>
            <p:ph type="sldNum" sz="quarter" idx="12"/>
          </p:nvPr>
        </p:nvSpPr>
        <p:spPr/>
        <p:txBody>
          <a:bodyPr/>
          <a:lstStyle/>
          <a:p>
            <a:fld id="{748DEDB4-F597-4825-8F59-9BB34A5C81A9}" type="slidenum">
              <a:rPr lang="en-IN" smtClean="0"/>
              <a:t>‹#›</a:t>
            </a:fld>
            <a:endParaRPr lang="en-IN"/>
          </a:p>
        </p:txBody>
      </p:sp>
    </p:spTree>
    <p:extLst>
      <p:ext uri="{BB962C8B-B14F-4D97-AF65-F5344CB8AC3E}">
        <p14:creationId xmlns:p14="http://schemas.microsoft.com/office/powerpoint/2010/main" val="941845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917228-BC62-B82A-AB84-37C805C9ED67}"/>
              </a:ext>
            </a:extLst>
          </p:cNvPr>
          <p:cNvSpPr>
            <a:spLocks noGrp="1"/>
          </p:cNvSpPr>
          <p:nvPr>
            <p:ph idx="1"/>
          </p:nvPr>
        </p:nvSpPr>
        <p:spPr/>
        <p:txBody>
          <a:bodyPr/>
          <a:lstStyle>
            <a:lvl2pPr>
              <a:defRPr sz="1600" spc="100" baseline="0">
                <a:latin typeface="Arial" panose="020B0604020202020204" pitchFamily="34" charset="0"/>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Date Placeholder 6">
            <a:extLst>
              <a:ext uri="{FF2B5EF4-FFF2-40B4-BE49-F238E27FC236}">
                <a16:creationId xmlns:a16="http://schemas.microsoft.com/office/drawing/2014/main" id="{B4EFD918-9427-DD01-E168-1576C483C8D2}"/>
              </a:ext>
            </a:extLst>
          </p:cNvPr>
          <p:cNvSpPr>
            <a:spLocks noGrp="1"/>
          </p:cNvSpPr>
          <p:nvPr>
            <p:ph type="dt" sz="half" idx="10"/>
          </p:nvPr>
        </p:nvSpPr>
        <p:spPr/>
        <p:txBody>
          <a:bodyPr/>
          <a:lstStyle/>
          <a:p>
            <a:fld id="{DE617E57-0E3E-49CA-A591-6F35B3BCBDFA}" type="datetimeFigureOut">
              <a:rPr lang="en-IN" smtClean="0"/>
              <a:t>12-05-2025</a:t>
            </a:fld>
            <a:endParaRPr lang="en-IN"/>
          </a:p>
        </p:txBody>
      </p:sp>
      <p:sp>
        <p:nvSpPr>
          <p:cNvPr id="8" name="Footer Placeholder 7">
            <a:extLst>
              <a:ext uri="{FF2B5EF4-FFF2-40B4-BE49-F238E27FC236}">
                <a16:creationId xmlns:a16="http://schemas.microsoft.com/office/drawing/2014/main" id="{47CFDFFC-A9F9-37B5-F9C7-71CDBC8BA92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2A64424-461E-80F3-CFE7-002FFC79C82B}"/>
              </a:ext>
            </a:extLst>
          </p:cNvPr>
          <p:cNvSpPr>
            <a:spLocks noGrp="1"/>
          </p:cNvSpPr>
          <p:nvPr>
            <p:ph type="sldNum" sz="quarter" idx="12"/>
          </p:nvPr>
        </p:nvSpPr>
        <p:spPr/>
        <p:txBody>
          <a:bodyPr/>
          <a:lstStyle/>
          <a:p>
            <a:fld id="{748DEDB4-F597-4825-8F59-9BB34A5C81A9}" type="slidenum">
              <a:rPr lang="en-IN" smtClean="0"/>
              <a:t>‹#›</a:t>
            </a:fld>
            <a:endParaRPr lang="en-IN"/>
          </a:p>
        </p:txBody>
      </p:sp>
    </p:spTree>
    <p:extLst>
      <p:ext uri="{BB962C8B-B14F-4D97-AF65-F5344CB8AC3E}">
        <p14:creationId xmlns:p14="http://schemas.microsoft.com/office/powerpoint/2010/main" val="26357904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917228-BC62-B82A-AB84-37C805C9ED67}"/>
              </a:ext>
            </a:extLst>
          </p:cNvPr>
          <p:cNvSpPr>
            <a:spLocks noGrp="1"/>
          </p:cNvSpPr>
          <p:nvPr>
            <p:ph idx="1"/>
          </p:nvPr>
        </p:nvSpPr>
        <p:spPr/>
        <p:txBody>
          <a:bodyPr/>
          <a:lstStyle>
            <a:lvl2pPr>
              <a:defRPr sz="1600" spc="100" baseline="0">
                <a:latin typeface="Arial" panose="020B0604020202020204" pitchFamily="34" charset="0"/>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Date Placeholder 6">
            <a:extLst>
              <a:ext uri="{FF2B5EF4-FFF2-40B4-BE49-F238E27FC236}">
                <a16:creationId xmlns:a16="http://schemas.microsoft.com/office/drawing/2014/main" id="{B4EFD918-9427-DD01-E168-1576C483C8D2}"/>
              </a:ext>
            </a:extLst>
          </p:cNvPr>
          <p:cNvSpPr>
            <a:spLocks noGrp="1"/>
          </p:cNvSpPr>
          <p:nvPr>
            <p:ph type="dt" sz="half" idx="10"/>
          </p:nvPr>
        </p:nvSpPr>
        <p:spPr/>
        <p:txBody>
          <a:bodyPr/>
          <a:lstStyle/>
          <a:p>
            <a:fld id="{DE617E57-0E3E-49CA-A591-6F35B3BCBDFA}" type="datetimeFigureOut">
              <a:rPr lang="en-IN" smtClean="0"/>
              <a:t>12-05-2025</a:t>
            </a:fld>
            <a:endParaRPr lang="en-IN"/>
          </a:p>
        </p:txBody>
      </p:sp>
      <p:sp>
        <p:nvSpPr>
          <p:cNvPr id="8" name="Footer Placeholder 7">
            <a:extLst>
              <a:ext uri="{FF2B5EF4-FFF2-40B4-BE49-F238E27FC236}">
                <a16:creationId xmlns:a16="http://schemas.microsoft.com/office/drawing/2014/main" id="{47CFDFFC-A9F9-37B5-F9C7-71CDBC8BA92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2A64424-461E-80F3-CFE7-002FFC79C82B}"/>
              </a:ext>
            </a:extLst>
          </p:cNvPr>
          <p:cNvSpPr>
            <a:spLocks noGrp="1"/>
          </p:cNvSpPr>
          <p:nvPr>
            <p:ph type="sldNum" sz="quarter" idx="12"/>
          </p:nvPr>
        </p:nvSpPr>
        <p:spPr/>
        <p:txBody>
          <a:bodyPr/>
          <a:lstStyle/>
          <a:p>
            <a:fld id="{748DEDB4-F597-4825-8F59-9BB34A5C81A9}" type="slidenum">
              <a:rPr lang="en-IN" smtClean="0"/>
              <a:t>‹#›</a:t>
            </a:fld>
            <a:endParaRPr lang="en-IN"/>
          </a:p>
        </p:txBody>
      </p:sp>
    </p:spTree>
    <p:extLst>
      <p:ext uri="{BB962C8B-B14F-4D97-AF65-F5344CB8AC3E}">
        <p14:creationId xmlns:p14="http://schemas.microsoft.com/office/powerpoint/2010/main" val="4992854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917228-BC62-B82A-AB84-37C805C9ED67}"/>
              </a:ext>
            </a:extLst>
          </p:cNvPr>
          <p:cNvSpPr>
            <a:spLocks noGrp="1"/>
          </p:cNvSpPr>
          <p:nvPr>
            <p:ph idx="1"/>
          </p:nvPr>
        </p:nvSpPr>
        <p:spPr/>
        <p:txBody>
          <a:bodyPr/>
          <a:lstStyle>
            <a:lvl2pPr>
              <a:defRPr sz="1600" spc="100" baseline="0">
                <a:latin typeface="Arial" panose="020B0604020202020204" pitchFamily="34" charset="0"/>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Date Placeholder 6">
            <a:extLst>
              <a:ext uri="{FF2B5EF4-FFF2-40B4-BE49-F238E27FC236}">
                <a16:creationId xmlns:a16="http://schemas.microsoft.com/office/drawing/2014/main" id="{B4EFD918-9427-DD01-E168-1576C483C8D2}"/>
              </a:ext>
            </a:extLst>
          </p:cNvPr>
          <p:cNvSpPr>
            <a:spLocks noGrp="1"/>
          </p:cNvSpPr>
          <p:nvPr>
            <p:ph type="dt" sz="half" idx="10"/>
          </p:nvPr>
        </p:nvSpPr>
        <p:spPr/>
        <p:txBody>
          <a:bodyPr/>
          <a:lstStyle/>
          <a:p>
            <a:fld id="{DE617E57-0E3E-49CA-A591-6F35B3BCBDFA}" type="datetimeFigureOut">
              <a:rPr lang="en-IN" smtClean="0"/>
              <a:t>12-05-2025</a:t>
            </a:fld>
            <a:endParaRPr lang="en-IN"/>
          </a:p>
        </p:txBody>
      </p:sp>
      <p:sp>
        <p:nvSpPr>
          <p:cNvPr id="8" name="Footer Placeholder 7">
            <a:extLst>
              <a:ext uri="{FF2B5EF4-FFF2-40B4-BE49-F238E27FC236}">
                <a16:creationId xmlns:a16="http://schemas.microsoft.com/office/drawing/2014/main" id="{47CFDFFC-A9F9-37B5-F9C7-71CDBC8BA92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2A64424-461E-80F3-CFE7-002FFC79C82B}"/>
              </a:ext>
            </a:extLst>
          </p:cNvPr>
          <p:cNvSpPr>
            <a:spLocks noGrp="1"/>
          </p:cNvSpPr>
          <p:nvPr>
            <p:ph type="sldNum" sz="quarter" idx="12"/>
          </p:nvPr>
        </p:nvSpPr>
        <p:spPr/>
        <p:txBody>
          <a:bodyPr/>
          <a:lstStyle/>
          <a:p>
            <a:fld id="{748DEDB4-F597-4825-8F59-9BB34A5C81A9}" type="slidenum">
              <a:rPr lang="en-IN" smtClean="0"/>
              <a:t>‹#›</a:t>
            </a:fld>
            <a:endParaRPr lang="en-IN"/>
          </a:p>
        </p:txBody>
      </p:sp>
    </p:spTree>
    <p:extLst>
      <p:ext uri="{BB962C8B-B14F-4D97-AF65-F5344CB8AC3E}">
        <p14:creationId xmlns:p14="http://schemas.microsoft.com/office/powerpoint/2010/main" val="26927332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917228-BC62-B82A-AB84-37C805C9ED67}"/>
              </a:ext>
            </a:extLst>
          </p:cNvPr>
          <p:cNvSpPr>
            <a:spLocks noGrp="1"/>
          </p:cNvSpPr>
          <p:nvPr>
            <p:ph idx="1"/>
          </p:nvPr>
        </p:nvSpPr>
        <p:spPr/>
        <p:txBody>
          <a:bodyPr/>
          <a:lstStyle>
            <a:lvl2pPr>
              <a:defRPr sz="1600" spc="100" baseline="0">
                <a:latin typeface="Arial" panose="020B0604020202020204" pitchFamily="34" charset="0"/>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 name="Title 1">
            <a:extLst>
              <a:ext uri="{FF2B5EF4-FFF2-40B4-BE49-F238E27FC236}">
                <a16:creationId xmlns:a16="http://schemas.microsoft.com/office/drawing/2014/main" id="{A33560DF-B2B1-E1A2-7148-9DEE16659679}"/>
              </a:ext>
            </a:extLst>
          </p:cNvPr>
          <p:cNvSpPr>
            <a:spLocks noGrp="1"/>
          </p:cNvSpPr>
          <p:nvPr>
            <p:ph type="title"/>
          </p:nvPr>
        </p:nvSpPr>
        <p:spPr/>
        <p:txBody>
          <a:bodyPr/>
          <a:lstStyle/>
          <a:p>
            <a:r>
              <a:rPr lang="en-US" dirty="0"/>
              <a:t>Click to edit Master title style</a:t>
            </a:r>
            <a:endParaRPr lang="en-IN" dirty="0"/>
          </a:p>
        </p:txBody>
      </p:sp>
    </p:spTree>
    <p:extLst>
      <p:ext uri="{BB962C8B-B14F-4D97-AF65-F5344CB8AC3E}">
        <p14:creationId xmlns:p14="http://schemas.microsoft.com/office/powerpoint/2010/main" val="193187909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8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917228-BC62-B82A-AB84-37C805C9ED67}"/>
              </a:ext>
            </a:extLst>
          </p:cNvPr>
          <p:cNvSpPr>
            <a:spLocks noGrp="1"/>
          </p:cNvSpPr>
          <p:nvPr>
            <p:ph idx="1"/>
          </p:nvPr>
        </p:nvSpPr>
        <p:spPr/>
        <p:txBody>
          <a:bodyPr/>
          <a:lstStyle>
            <a:lvl2pPr>
              <a:defRPr sz="1600" spc="100" baseline="0">
                <a:latin typeface="Arial" panose="020B0604020202020204" pitchFamily="34" charset="0"/>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Date Placeholder 6">
            <a:extLst>
              <a:ext uri="{FF2B5EF4-FFF2-40B4-BE49-F238E27FC236}">
                <a16:creationId xmlns:a16="http://schemas.microsoft.com/office/drawing/2014/main" id="{B4EFD918-9427-DD01-E168-1576C483C8D2}"/>
              </a:ext>
            </a:extLst>
          </p:cNvPr>
          <p:cNvSpPr>
            <a:spLocks noGrp="1"/>
          </p:cNvSpPr>
          <p:nvPr>
            <p:ph type="dt" sz="half" idx="10"/>
          </p:nvPr>
        </p:nvSpPr>
        <p:spPr/>
        <p:txBody>
          <a:bodyPr/>
          <a:lstStyle/>
          <a:p>
            <a:fld id="{DE617E57-0E3E-49CA-A591-6F35B3BCBDFA}" type="datetimeFigureOut">
              <a:rPr lang="en-IN" smtClean="0"/>
              <a:t>12-05-2025</a:t>
            </a:fld>
            <a:endParaRPr lang="en-IN"/>
          </a:p>
        </p:txBody>
      </p:sp>
      <p:sp>
        <p:nvSpPr>
          <p:cNvPr id="8" name="Footer Placeholder 7">
            <a:extLst>
              <a:ext uri="{FF2B5EF4-FFF2-40B4-BE49-F238E27FC236}">
                <a16:creationId xmlns:a16="http://schemas.microsoft.com/office/drawing/2014/main" id="{47CFDFFC-A9F9-37B5-F9C7-71CDBC8BA92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2A64424-461E-80F3-CFE7-002FFC79C82B}"/>
              </a:ext>
            </a:extLst>
          </p:cNvPr>
          <p:cNvSpPr>
            <a:spLocks noGrp="1"/>
          </p:cNvSpPr>
          <p:nvPr>
            <p:ph type="sldNum" sz="quarter" idx="12"/>
          </p:nvPr>
        </p:nvSpPr>
        <p:spPr/>
        <p:txBody>
          <a:bodyPr/>
          <a:lstStyle/>
          <a:p>
            <a:fld id="{748DEDB4-F597-4825-8F59-9BB34A5C81A9}" type="slidenum">
              <a:rPr lang="en-IN" smtClean="0"/>
              <a:t>‹#›</a:t>
            </a:fld>
            <a:endParaRPr lang="en-IN"/>
          </a:p>
        </p:txBody>
      </p:sp>
    </p:spTree>
    <p:extLst>
      <p:ext uri="{BB962C8B-B14F-4D97-AF65-F5344CB8AC3E}">
        <p14:creationId xmlns:p14="http://schemas.microsoft.com/office/powerpoint/2010/main" val="24189878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917228-BC62-B82A-AB84-37C805C9ED67}"/>
              </a:ext>
            </a:extLst>
          </p:cNvPr>
          <p:cNvSpPr>
            <a:spLocks noGrp="1"/>
          </p:cNvSpPr>
          <p:nvPr>
            <p:ph idx="1"/>
          </p:nvPr>
        </p:nvSpPr>
        <p:spPr/>
        <p:txBody>
          <a:bodyPr/>
          <a:lstStyle>
            <a:lvl2pPr>
              <a:defRPr sz="1600" spc="100" baseline="0">
                <a:latin typeface="Arial" panose="020B0604020202020204" pitchFamily="34" charset="0"/>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Date Placeholder 6">
            <a:extLst>
              <a:ext uri="{FF2B5EF4-FFF2-40B4-BE49-F238E27FC236}">
                <a16:creationId xmlns:a16="http://schemas.microsoft.com/office/drawing/2014/main" id="{B4EFD918-9427-DD01-E168-1576C483C8D2}"/>
              </a:ext>
            </a:extLst>
          </p:cNvPr>
          <p:cNvSpPr>
            <a:spLocks noGrp="1"/>
          </p:cNvSpPr>
          <p:nvPr>
            <p:ph type="dt" sz="half" idx="10"/>
          </p:nvPr>
        </p:nvSpPr>
        <p:spPr/>
        <p:txBody>
          <a:bodyPr/>
          <a:lstStyle/>
          <a:p>
            <a:fld id="{DE617E57-0E3E-49CA-A591-6F35B3BCBDFA}" type="datetimeFigureOut">
              <a:rPr lang="en-IN" smtClean="0"/>
              <a:t>12-05-2025</a:t>
            </a:fld>
            <a:endParaRPr lang="en-IN"/>
          </a:p>
        </p:txBody>
      </p:sp>
      <p:sp>
        <p:nvSpPr>
          <p:cNvPr id="8" name="Footer Placeholder 7">
            <a:extLst>
              <a:ext uri="{FF2B5EF4-FFF2-40B4-BE49-F238E27FC236}">
                <a16:creationId xmlns:a16="http://schemas.microsoft.com/office/drawing/2014/main" id="{47CFDFFC-A9F9-37B5-F9C7-71CDBC8BA92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2A64424-461E-80F3-CFE7-002FFC79C82B}"/>
              </a:ext>
            </a:extLst>
          </p:cNvPr>
          <p:cNvSpPr>
            <a:spLocks noGrp="1"/>
          </p:cNvSpPr>
          <p:nvPr>
            <p:ph type="sldNum" sz="quarter" idx="12"/>
          </p:nvPr>
        </p:nvSpPr>
        <p:spPr/>
        <p:txBody>
          <a:bodyPr/>
          <a:lstStyle/>
          <a:p>
            <a:fld id="{748DEDB4-F597-4825-8F59-9BB34A5C81A9}" type="slidenum">
              <a:rPr lang="en-IN" smtClean="0"/>
              <a:t>‹#›</a:t>
            </a:fld>
            <a:endParaRPr lang="en-IN"/>
          </a:p>
        </p:txBody>
      </p:sp>
    </p:spTree>
    <p:extLst>
      <p:ext uri="{BB962C8B-B14F-4D97-AF65-F5344CB8AC3E}">
        <p14:creationId xmlns:p14="http://schemas.microsoft.com/office/powerpoint/2010/main" val="307075094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917228-BC62-B82A-AB84-37C805C9ED67}"/>
              </a:ext>
            </a:extLst>
          </p:cNvPr>
          <p:cNvSpPr>
            <a:spLocks noGrp="1"/>
          </p:cNvSpPr>
          <p:nvPr>
            <p:ph idx="1"/>
          </p:nvPr>
        </p:nvSpPr>
        <p:spPr/>
        <p:txBody>
          <a:bodyPr/>
          <a:lstStyle>
            <a:lvl2pPr>
              <a:defRPr sz="1600" spc="100" baseline="0">
                <a:latin typeface="Arial" panose="020B0604020202020204" pitchFamily="34" charset="0"/>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Date Placeholder 6">
            <a:extLst>
              <a:ext uri="{FF2B5EF4-FFF2-40B4-BE49-F238E27FC236}">
                <a16:creationId xmlns:a16="http://schemas.microsoft.com/office/drawing/2014/main" id="{B4EFD918-9427-DD01-E168-1576C483C8D2}"/>
              </a:ext>
            </a:extLst>
          </p:cNvPr>
          <p:cNvSpPr>
            <a:spLocks noGrp="1"/>
          </p:cNvSpPr>
          <p:nvPr>
            <p:ph type="dt" sz="half" idx="10"/>
          </p:nvPr>
        </p:nvSpPr>
        <p:spPr/>
        <p:txBody>
          <a:bodyPr/>
          <a:lstStyle/>
          <a:p>
            <a:fld id="{DE617E57-0E3E-49CA-A591-6F35B3BCBDFA}" type="datetimeFigureOut">
              <a:rPr lang="en-IN" smtClean="0"/>
              <a:t>12-05-2025</a:t>
            </a:fld>
            <a:endParaRPr lang="en-IN"/>
          </a:p>
        </p:txBody>
      </p:sp>
      <p:sp>
        <p:nvSpPr>
          <p:cNvPr id="8" name="Footer Placeholder 7">
            <a:extLst>
              <a:ext uri="{FF2B5EF4-FFF2-40B4-BE49-F238E27FC236}">
                <a16:creationId xmlns:a16="http://schemas.microsoft.com/office/drawing/2014/main" id="{47CFDFFC-A9F9-37B5-F9C7-71CDBC8BA92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2A64424-461E-80F3-CFE7-002FFC79C82B}"/>
              </a:ext>
            </a:extLst>
          </p:cNvPr>
          <p:cNvSpPr>
            <a:spLocks noGrp="1"/>
          </p:cNvSpPr>
          <p:nvPr>
            <p:ph type="sldNum" sz="quarter" idx="12"/>
          </p:nvPr>
        </p:nvSpPr>
        <p:spPr/>
        <p:txBody>
          <a:bodyPr/>
          <a:lstStyle/>
          <a:p>
            <a:fld id="{748DEDB4-F597-4825-8F59-9BB34A5C81A9}" type="slidenum">
              <a:rPr lang="en-IN" smtClean="0"/>
              <a:t>‹#›</a:t>
            </a:fld>
            <a:endParaRPr lang="en-IN"/>
          </a:p>
        </p:txBody>
      </p:sp>
    </p:spTree>
    <p:extLst>
      <p:ext uri="{BB962C8B-B14F-4D97-AF65-F5344CB8AC3E}">
        <p14:creationId xmlns:p14="http://schemas.microsoft.com/office/powerpoint/2010/main" val="405678313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917228-BC62-B82A-AB84-37C805C9ED67}"/>
              </a:ext>
            </a:extLst>
          </p:cNvPr>
          <p:cNvSpPr>
            <a:spLocks noGrp="1"/>
          </p:cNvSpPr>
          <p:nvPr>
            <p:ph idx="1"/>
          </p:nvPr>
        </p:nvSpPr>
        <p:spPr/>
        <p:txBody>
          <a:bodyPr/>
          <a:lstStyle>
            <a:lvl2pPr>
              <a:defRPr sz="1600" spc="100" baseline="0">
                <a:latin typeface="Arial" panose="020B0604020202020204" pitchFamily="34" charset="0"/>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Date Placeholder 6">
            <a:extLst>
              <a:ext uri="{FF2B5EF4-FFF2-40B4-BE49-F238E27FC236}">
                <a16:creationId xmlns:a16="http://schemas.microsoft.com/office/drawing/2014/main" id="{B4EFD918-9427-DD01-E168-1576C483C8D2}"/>
              </a:ext>
            </a:extLst>
          </p:cNvPr>
          <p:cNvSpPr>
            <a:spLocks noGrp="1"/>
          </p:cNvSpPr>
          <p:nvPr>
            <p:ph type="dt" sz="half" idx="10"/>
          </p:nvPr>
        </p:nvSpPr>
        <p:spPr/>
        <p:txBody>
          <a:bodyPr/>
          <a:lstStyle/>
          <a:p>
            <a:fld id="{DE617E57-0E3E-49CA-A591-6F35B3BCBDFA}" type="datetimeFigureOut">
              <a:rPr lang="en-IN" smtClean="0"/>
              <a:t>12-05-2025</a:t>
            </a:fld>
            <a:endParaRPr lang="en-IN"/>
          </a:p>
        </p:txBody>
      </p:sp>
      <p:sp>
        <p:nvSpPr>
          <p:cNvPr id="8" name="Footer Placeholder 7">
            <a:extLst>
              <a:ext uri="{FF2B5EF4-FFF2-40B4-BE49-F238E27FC236}">
                <a16:creationId xmlns:a16="http://schemas.microsoft.com/office/drawing/2014/main" id="{47CFDFFC-A9F9-37B5-F9C7-71CDBC8BA92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2A64424-461E-80F3-CFE7-002FFC79C82B}"/>
              </a:ext>
            </a:extLst>
          </p:cNvPr>
          <p:cNvSpPr>
            <a:spLocks noGrp="1"/>
          </p:cNvSpPr>
          <p:nvPr>
            <p:ph type="sldNum" sz="quarter" idx="12"/>
          </p:nvPr>
        </p:nvSpPr>
        <p:spPr/>
        <p:txBody>
          <a:bodyPr/>
          <a:lstStyle/>
          <a:p>
            <a:fld id="{748DEDB4-F597-4825-8F59-9BB34A5C81A9}" type="slidenum">
              <a:rPr lang="en-IN" smtClean="0"/>
              <a:t>‹#›</a:t>
            </a:fld>
            <a:endParaRPr lang="en-IN"/>
          </a:p>
        </p:txBody>
      </p:sp>
    </p:spTree>
    <p:extLst>
      <p:ext uri="{BB962C8B-B14F-4D97-AF65-F5344CB8AC3E}">
        <p14:creationId xmlns:p14="http://schemas.microsoft.com/office/powerpoint/2010/main" val="300655400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2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917228-BC62-B82A-AB84-37C805C9ED67}"/>
              </a:ext>
            </a:extLst>
          </p:cNvPr>
          <p:cNvSpPr>
            <a:spLocks noGrp="1"/>
          </p:cNvSpPr>
          <p:nvPr>
            <p:ph idx="1"/>
          </p:nvPr>
        </p:nvSpPr>
        <p:spPr/>
        <p:txBody>
          <a:bodyPr/>
          <a:lstStyle>
            <a:lvl2pPr>
              <a:defRPr sz="1600" spc="100" baseline="0">
                <a:latin typeface="Arial" panose="020B0604020202020204" pitchFamily="34" charset="0"/>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Date Placeholder 6">
            <a:extLst>
              <a:ext uri="{FF2B5EF4-FFF2-40B4-BE49-F238E27FC236}">
                <a16:creationId xmlns:a16="http://schemas.microsoft.com/office/drawing/2014/main" id="{B4EFD918-9427-DD01-E168-1576C483C8D2}"/>
              </a:ext>
            </a:extLst>
          </p:cNvPr>
          <p:cNvSpPr>
            <a:spLocks noGrp="1"/>
          </p:cNvSpPr>
          <p:nvPr>
            <p:ph type="dt" sz="half" idx="10"/>
          </p:nvPr>
        </p:nvSpPr>
        <p:spPr/>
        <p:txBody>
          <a:bodyPr/>
          <a:lstStyle/>
          <a:p>
            <a:fld id="{DE617E57-0E3E-49CA-A591-6F35B3BCBDFA}" type="datetimeFigureOut">
              <a:rPr lang="en-IN" smtClean="0"/>
              <a:t>12-05-2025</a:t>
            </a:fld>
            <a:endParaRPr lang="en-IN"/>
          </a:p>
        </p:txBody>
      </p:sp>
      <p:sp>
        <p:nvSpPr>
          <p:cNvPr id="8" name="Footer Placeholder 7">
            <a:extLst>
              <a:ext uri="{FF2B5EF4-FFF2-40B4-BE49-F238E27FC236}">
                <a16:creationId xmlns:a16="http://schemas.microsoft.com/office/drawing/2014/main" id="{47CFDFFC-A9F9-37B5-F9C7-71CDBC8BA92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2A64424-461E-80F3-CFE7-002FFC79C82B}"/>
              </a:ext>
            </a:extLst>
          </p:cNvPr>
          <p:cNvSpPr>
            <a:spLocks noGrp="1"/>
          </p:cNvSpPr>
          <p:nvPr>
            <p:ph type="sldNum" sz="quarter" idx="12"/>
          </p:nvPr>
        </p:nvSpPr>
        <p:spPr/>
        <p:txBody>
          <a:bodyPr/>
          <a:lstStyle/>
          <a:p>
            <a:fld id="{748DEDB4-F597-4825-8F59-9BB34A5C81A9}" type="slidenum">
              <a:rPr lang="en-IN" smtClean="0"/>
              <a:t>‹#›</a:t>
            </a:fld>
            <a:endParaRPr lang="en-IN"/>
          </a:p>
        </p:txBody>
      </p:sp>
    </p:spTree>
    <p:extLst>
      <p:ext uri="{BB962C8B-B14F-4D97-AF65-F5344CB8AC3E}">
        <p14:creationId xmlns:p14="http://schemas.microsoft.com/office/powerpoint/2010/main" val="73518964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3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917228-BC62-B82A-AB84-37C805C9ED67}"/>
              </a:ext>
            </a:extLst>
          </p:cNvPr>
          <p:cNvSpPr>
            <a:spLocks noGrp="1"/>
          </p:cNvSpPr>
          <p:nvPr>
            <p:ph idx="1"/>
          </p:nvPr>
        </p:nvSpPr>
        <p:spPr/>
        <p:txBody>
          <a:bodyPr/>
          <a:lstStyle>
            <a:lvl2pPr>
              <a:defRPr sz="1600" spc="100" baseline="0">
                <a:latin typeface="Arial" panose="020B0604020202020204" pitchFamily="34" charset="0"/>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Date Placeholder 6">
            <a:extLst>
              <a:ext uri="{FF2B5EF4-FFF2-40B4-BE49-F238E27FC236}">
                <a16:creationId xmlns:a16="http://schemas.microsoft.com/office/drawing/2014/main" id="{B4EFD918-9427-DD01-E168-1576C483C8D2}"/>
              </a:ext>
            </a:extLst>
          </p:cNvPr>
          <p:cNvSpPr>
            <a:spLocks noGrp="1"/>
          </p:cNvSpPr>
          <p:nvPr>
            <p:ph type="dt" sz="half" idx="10"/>
          </p:nvPr>
        </p:nvSpPr>
        <p:spPr/>
        <p:txBody>
          <a:bodyPr/>
          <a:lstStyle/>
          <a:p>
            <a:fld id="{DE617E57-0E3E-49CA-A591-6F35B3BCBDFA}" type="datetimeFigureOut">
              <a:rPr lang="en-IN" smtClean="0"/>
              <a:t>12-05-2025</a:t>
            </a:fld>
            <a:endParaRPr lang="en-IN"/>
          </a:p>
        </p:txBody>
      </p:sp>
      <p:sp>
        <p:nvSpPr>
          <p:cNvPr id="8" name="Footer Placeholder 7">
            <a:extLst>
              <a:ext uri="{FF2B5EF4-FFF2-40B4-BE49-F238E27FC236}">
                <a16:creationId xmlns:a16="http://schemas.microsoft.com/office/drawing/2014/main" id="{47CFDFFC-A9F9-37B5-F9C7-71CDBC8BA92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2A64424-461E-80F3-CFE7-002FFC79C82B}"/>
              </a:ext>
            </a:extLst>
          </p:cNvPr>
          <p:cNvSpPr>
            <a:spLocks noGrp="1"/>
          </p:cNvSpPr>
          <p:nvPr>
            <p:ph type="sldNum" sz="quarter" idx="12"/>
          </p:nvPr>
        </p:nvSpPr>
        <p:spPr/>
        <p:txBody>
          <a:bodyPr/>
          <a:lstStyle/>
          <a:p>
            <a:fld id="{748DEDB4-F597-4825-8F59-9BB34A5C81A9}" type="slidenum">
              <a:rPr lang="en-IN" smtClean="0"/>
              <a:t>‹#›</a:t>
            </a:fld>
            <a:endParaRPr lang="en-IN"/>
          </a:p>
        </p:txBody>
      </p:sp>
    </p:spTree>
    <p:extLst>
      <p:ext uri="{BB962C8B-B14F-4D97-AF65-F5344CB8AC3E}">
        <p14:creationId xmlns:p14="http://schemas.microsoft.com/office/powerpoint/2010/main" val="372928134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4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917228-BC62-B82A-AB84-37C805C9ED67}"/>
              </a:ext>
            </a:extLst>
          </p:cNvPr>
          <p:cNvSpPr>
            <a:spLocks noGrp="1"/>
          </p:cNvSpPr>
          <p:nvPr>
            <p:ph idx="1"/>
          </p:nvPr>
        </p:nvSpPr>
        <p:spPr/>
        <p:txBody>
          <a:bodyPr/>
          <a:lstStyle>
            <a:lvl2pPr>
              <a:defRPr sz="1600" spc="100" baseline="0">
                <a:latin typeface="Arial" panose="020B0604020202020204" pitchFamily="34" charset="0"/>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Date Placeholder 6">
            <a:extLst>
              <a:ext uri="{FF2B5EF4-FFF2-40B4-BE49-F238E27FC236}">
                <a16:creationId xmlns:a16="http://schemas.microsoft.com/office/drawing/2014/main" id="{B4EFD918-9427-DD01-E168-1576C483C8D2}"/>
              </a:ext>
            </a:extLst>
          </p:cNvPr>
          <p:cNvSpPr>
            <a:spLocks noGrp="1"/>
          </p:cNvSpPr>
          <p:nvPr>
            <p:ph type="dt" sz="half" idx="10"/>
          </p:nvPr>
        </p:nvSpPr>
        <p:spPr/>
        <p:txBody>
          <a:bodyPr/>
          <a:lstStyle/>
          <a:p>
            <a:fld id="{DE617E57-0E3E-49CA-A591-6F35B3BCBDFA}" type="datetimeFigureOut">
              <a:rPr lang="en-IN" smtClean="0"/>
              <a:t>12-05-2025</a:t>
            </a:fld>
            <a:endParaRPr lang="en-IN"/>
          </a:p>
        </p:txBody>
      </p:sp>
      <p:sp>
        <p:nvSpPr>
          <p:cNvPr id="8" name="Footer Placeholder 7">
            <a:extLst>
              <a:ext uri="{FF2B5EF4-FFF2-40B4-BE49-F238E27FC236}">
                <a16:creationId xmlns:a16="http://schemas.microsoft.com/office/drawing/2014/main" id="{47CFDFFC-A9F9-37B5-F9C7-71CDBC8BA92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2A64424-461E-80F3-CFE7-002FFC79C82B}"/>
              </a:ext>
            </a:extLst>
          </p:cNvPr>
          <p:cNvSpPr>
            <a:spLocks noGrp="1"/>
          </p:cNvSpPr>
          <p:nvPr>
            <p:ph type="sldNum" sz="quarter" idx="12"/>
          </p:nvPr>
        </p:nvSpPr>
        <p:spPr/>
        <p:txBody>
          <a:bodyPr/>
          <a:lstStyle/>
          <a:p>
            <a:fld id="{748DEDB4-F597-4825-8F59-9BB34A5C81A9}" type="slidenum">
              <a:rPr lang="en-IN" smtClean="0"/>
              <a:t>‹#›</a:t>
            </a:fld>
            <a:endParaRPr lang="en-IN"/>
          </a:p>
        </p:txBody>
      </p:sp>
    </p:spTree>
    <p:extLst>
      <p:ext uri="{BB962C8B-B14F-4D97-AF65-F5344CB8AC3E}">
        <p14:creationId xmlns:p14="http://schemas.microsoft.com/office/powerpoint/2010/main" val="202266646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5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917228-BC62-B82A-AB84-37C805C9ED67}"/>
              </a:ext>
            </a:extLst>
          </p:cNvPr>
          <p:cNvSpPr>
            <a:spLocks noGrp="1"/>
          </p:cNvSpPr>
          <p:nvPr>
            <p:ph idx="1"/>
          </p:nvPr>
        </p:nvSpPr>
        <p:spPr/>
        <p:txBody>
          <a:bodyPr/>
          <a:lstStyle>
            <a:lvl2pPr>
              <a:defRPr sz="1600" spc="100" baseline="0">
                <a:latin typeface="Arial" panose="020B0604020202020204" pitchFamily="34" charset="0"/>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Date Placeholder 6">
            <a:extLst>
              <a:ext uri="{FF2B5EF4-FFF2-40B4-BE49-F238E27FC236}">
                <a16:creationId xmlns:a16="http://schemas.microsoft.com/office/drawing/2014/main" id="{B4EFD918-9427-DD01-E168-1576C483C8D2}"/>
              </a:ext>
            </a:extLst>
          </p:cNvPr>
          <p:cNvSpPr>
            <a:spLocks noGrp="1"/>
          </p:cNvSpPr>
          <p:nvPr>
            <p:ph type="dt" sz="half" idx="10"/>
          </p:nvPr>
        </p:nvSpPr>
        <p:spPr/>
        <p:txBody>
          <a:bodyPr/>
          <a:lstStyle/>
          <a:p>
            <a:fld id="{DE617E57-0E3E-49CA-A591-6F35B3BCBDFA}" type="datetimeFigureOut">
              <a:rPr lang="en-IN" smtClean="0"/>
              <a:t>12-05-2025</a:t>
            </a:fld>
            <a:endParaRPr lang="en-IN"/>
          </a:p>
        </p:txBody>
      </p:sp>
      <p:sp>
        <p:nvSpPr>
          <p:cNvPr id="8" name="Footer Placeholder 7">
            <a:extLst>
              <a:ext uri="{FF2B5EF4-FFF2-40B4-BE49-F238E27FC236}">
                <a16:creationId xmlns:a16="http://schemas.microsoft.com/office/drawing/2014/main" id="{47CFDFFC-A9F9-37B5-F9C7-71CDBC8BA92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2A64424-461E-80F3-CFE7-002FFC79C82B}"/>
              </a:ext>
            </a:extLst>
          </p:cNvPr>
          <p:cNvSpPr>
            <a:spLocks noGrp="1"/>
          </p:cNvSpPr>
          <p:nvPr>
            <p:ph type="sldNum" sz="quarter" idx="12"/>
          </p:nvPr>
        </p:nvSpPr>
        <p:spPr/>
        <p:txBody>
          <a:bodyPr/>
          <a:lstStyle/>
          <a:p>
            <a:fld id="{748DEDB4-F597-4825-8F59-9BB34A5C81A9}" type="slidenum">
              <a:rPr lang="en-IN" smtClean="0"/>
              <a:t>‹#›</a:t>
            </a:fld>
            <a:endParaRPr lang="en-IN"/>
          </a:p>
        </p:txBody>
      </p:sp>
    </p:spTree>
    <p:extLst>
      <p:ext uri="{BB962C8B-B14F-4D97-AF65-F5344CB8AC3E}">
        <p14:creationId xmlns:p14="http://schemas.microsoft.com/office/powerpoint/2010/main" val="322924888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6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917228-BC62-B82A-AB84-37C805C9ED67}"/>
              </a:ext>
            </a:extLst>
          </p:cNvPr>
          <p:cNvSpPr>
            <a:spLocks noGrp="1"/>
          </p:cNvSpPr>
          <p:nvPr>
            <p:ph idx="1"/>
          </p:nvPr>
        </p:nvSpPr>
        <p:spPr/>
        <p:txBody>
          <a:bodyPr/>
          <a:lstStyle>
            <a:lvl2pPr>
              <a:defRPr sz="1600" spc="100" baseline="0">
                <a:latin typeface="Arial" panose="020B0604020202020204" pitchFamily="34" charset="0"/>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Date Placeholder 6">
            <a:extLst>
              <a:ext uri="{FF2B5EF4-FFF2-40B4-BE49-F238E27FC236}">
                <a16:creationId xmlns:a16="http://schemas.microsoft.com/office/drawing/2014/main" id="{B4EFD918-9427-DD01-E168-1576C483C8D2}"/>
              </a:ext>
            </a:extLst>
          </p:cNvPr>
          <p:cNvSpPr>
            <a:spLocks noGrp="1"/>
          </p:cNvSpPr>
          <p:nvPr>
            <p:ph type="dt" sz="half" idx="10"/>
          </p:nvPr>
        </p:nvSpPr>
        <p:spPr/>
        <p:txBody>
          <a:bodyPr/>
          <a:lstStyle/>
          <a:p>
            <a:fld id="{DE617E57-0E3E-49CA-A591-6F35B3BCBDFA}" type="datetimeFigureOut">
              <a:rPr lang="en-IN" smtClean="0"/>
              <a:t>12-05-2025</a:t>
            </a:fld>
            <a:endParaRPr lang="en-IN"/>
          </a:p>
        </p:txBody>
      </p:sp>
      <p:sp>
        <p:nvSpPr>
          <p:cNvPr id="8" name="Footer Placeholder 7">
            <a:extLst>
              <a:ext uri="{FF2B5EF4-FFF2-40B4-BE49-F238E27FC236}">
                <a16:creationId xmlns:a16="http://schemas.microsoft.com/office/drawing/2014/main" id="{47CFDFFC-A9F9-37B5-F9C7-71CDBC8BA92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2A64424-461E-80F3-CFE7-002FFC79C82B}"/>
              </a:ext>
            </a:extLst>
          </p:cNvPr>
          <p:cNvSpPr>
            <a:spLocks noGrp="1"/>
          </p:cNvSpPr>
          <p:nvPr>
            <p:ph type="sldNum" sz="quarter" idx="12"/>
          </p:nvPr>
        </p:nvSpPr>
        <p:spPr/>
        <p:txBody>
          <a:bodyPr/>
          <a:lstStyle/>
          <a:p>
            <a:fld id="{748DEDB4-F597-4825-8F59-9BB34A5C81A9}" type="slidenum">
              <a:rPr lang="en-IN" smtClean="0"/>
              <a:t>‹#›</a:t>
            </a:fld>
            <a:endParaRPr lang="en-IN"/>
          </a:p>
        </p:txBody>
      </p:sp>
    </p:spTree>
    <p:extLst>
      <p:ext uri="{BB962C8B-B14F-4D97-AF65-F5344CB8AC3E}">
        <p14:creationId xmlns:p14="http://schemas.microsoft.com/office/powerpoint/2010/main" val="388845913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7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917228-BC62-B82A-AB84-37C805C9ED67}"/>
              </a:ext>
            </a:extLst>
          </p:cNvPr>
          <p:cNvSpPr>
            <a:spLocks noGrp="1"/>
          </p:cNvSpPr>
          <p:nvPr>
            <p:ph idx="1"/>
          </p:nvPr>
        </p:nvSpPr>
        <p:spPr/>
        <p:txBody>
          <a:bodyPr/>
          <a:lstStyle>
            <a:lvl2pPr>
              <a:defRPr sz="1600" spc="100" baseline="0">
                <a:latin typeface="Arial" panose="020B0604020202020204" pitchFamily="34" charset="0"/>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Date Placeholder 6">
            <a:extLst>
              <a:ext uri="{FF2B5EF4-FFF2-40B4-BE49-F238E27FC236}">
                <a16:creationId xmlns:a16="http://schemas.microsoft.com/office/drawing/2014/main" id="{B4EFD918-9427-DD01-E168-1576C483C8D2}"/>
              </a:ext>
            </a:extLst>
          </p:cNvPr>
          <p:cNvSpPr>
            <a:spLocks noGrp="1"/>
          </p:cNvSpPr>
          <p:nvPr>
            <p:ph type="dt" sz="half" idx="10"/>
          </p:nvPr>
        </p:nvSpPr>
        <p:spPr/>
        <p:txBody>
          <a:bodyPr/>
          <a:lstStyle/>
          <a:p>
            <a:fld id="{DE617E57-0E3E-49CA-A591-6F35B3BCBDFA}" type="datetimeFigureOut">
              <a:rPr lang="en-IN" smtClean="0"/>
              <a:t>12-05-2025</a:t>
            </a:fld>
            <a:endParaRPr lang="en-IN"/>
          </a:p>
        </p:txBody>
      </p:sp>
      <p:sp>
        <p:nvSpPr>
          <p:cNvPr id="8" name="Footer Placeholder 7">
            <a:extLst>
              <a:ext uri="{FF2B5EF4-FFF2-40B4-BE49-F238E27FC236}">
                <a16:creationId xmlns:a16="http://schemas.microsoft.com/office/drawing/2014/main" id="{47CFDFFC-A9F9-37B5-F9C7-71CDBC8BA92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2A64424-461E-80F3-CFE7-002FFC79C82B}"/>
              </a:ext>
            </a:extLst>
          </p:cNvPr>
          <p:cNvSpPr>
            <a:spLocks noGrp="1"/>
          </p:cNvSpPr>
          <p:nvPr>
            <p:ph type="sldNum" sz="quarter" idx="12"/>
          </p:nvPr>
        </p:nvSpPr>
        <p:spPr/>
        <p:txBody>
          <a:bodyPr/>
          <a:lstStyle/>
          <a:p>
            <a:fld id="{748DEDB4-F597-4825-8F59-9BB34A5C81A9}" type="slidenum">
              <a:rPr lang="en-IN" smtClean="0"/>
              <a:t>‹#›</a:t>
            </a:fld>
            <a:endParaRPr lang="en-IN"/>
          </a:p>
        </p:txBody>
      </p:sp>
    </p:spTree>
    <p:extLst>
      <p:ext uri="{BB962C8B-B14F-4D97-AF65-F5344CB8AC3E}">
        <p14:creationId xmlns:p14="http://schemas.microsoft.com/office/powerpoint/2010/main" val="91678528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8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917228-BC62-B82A-AB84-37C805C9ED67}"/>
              </a:ext>
            </a:extLst>
          </p:cNvPr>
          <p:cNvSpPr>
            <a:spLocks noGrp="1"/>
          </p:cNvSpPr>
          <p:nvPr>
            <p:ph idx="1"/>
          </p:nvPr>
        </p:nvSpPr>
        <p:spPr/>
        <p:txBody>
          <a:bodyPr/>
          <a:lstStyle>
            <a:lvl2pPr>
              <a:defRPr sz="1600" spc="100" baseline="0">
                <a:latin typeface="Arial" panose="020B0604020202020204" pitchFamily="34" charset="0"/>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Date Placeholder 6">
            <a:extLst>
              <a:ext uri="{FF2B5EF4-FFF2-40B4-BE49-F238E27FC236}">
                <a16:creationId xmlns:a16="http://schemas.microsoft.com/office/drawing/2014/main" id="{B4EFD918-9427-DD01-E168-1576C483C8D2}"/>
              </a:ext>
            </a:extLst>
          </p:cNvPr>
          <p:cNvSpPr>
            <a:spLocks noGrp="1"/>
          </p:cNvSpPr>
          <p:nvPr>
            <p:ph type="dt" sz="half" idx="10"/>
          </p:nvPr>
        </p:nvSpPr>
        <p:spPr/>
        <p:txBody>
          <a:bodyPr/>
          <a:lstStyle/>
          <a:p>
            <a:fld id="{DE617E57-0E3E-49CA-A591-6F35B3BCBDFA}" type="datetimeFigureOut">
              <a:rPr lang="en-IN" smtClean="0"/>
              <a:t>12-05-2025</a:t>
            </a:fld>
            <a:endParaRPr lang="en-IN"/>
          </a:p>
        </p:txBody>
      </p:sp>
      <p:sp>
        <p:nvSpPr>
          <p:cNvPr id="8" name="Footer Placeholder 7">
            <a:extLst>
              <a:ext uri="{FF2B5EF4-FFF2-40B4-BE49-F238E27FC236}">
                <a16:creationId xmlns:a16="http://schemas.microsoft.com/office/drawing/2014/main" id="{47CFDFFC-A9F9-37B5-F9C7-71CDBC8BA92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2A64424-461E-80F3-CFE7-002FFC79C82B}"/>
              </a:ext>
            </a:extLst>
          </p:cNvPr>
          <p:cNvSpPr>
            <a:spLocks noGrp="1"/>
          </p:cNvSpPr>
          <p:nvPr>
            <p:ph type="sldNum" sz="quarter" idx="12"/>
          </p:nvPr>
        </p:nvSpPr>
        <p:spPr/>
        <p:txBody>
          <a:bodyPr/>
          <a:lstStyle/>
          <a:p>
            <a:fld id="{748DEDB4-F597-4825-8F59-9BB34A5C81A9}" type="slidenum">
              <a:rPr lang="en-IN" smtClean="0"/>
              <a:t>‹#›</a:t>
            </a:fld>
            <a:endParaRPr lang="en-IN"/>
          </a:p>
        </p:txBody>
      </p:sp>
    </p:spTree>
    <p:extLst>
      <p:ext uri="{BB962C8B-B14F-4D97-AF65-F5344CB8AC3E}">
        <p14:creationId xmlns:p14="http://schemas.microsoft.com/office/powerpoint/2010/main" val="316833444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19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917228-BC62-B82A-AB84-37C805C9ED67}"/>
              </a:ext>
            </a:extLst>
          </p:cNvPr>
          <p:cNvSpPr>
            <a:spLocks noGrp="1"/>
          </p:cNvSpPr>
          <p:nvPr>
            <p:ph idx="1"/>
          </p:nvPr>
        </p:nvSpPr>
        <p:spPr/>
        <p:txBody>
          <a:bodyPr/>
          <a:lstStyle>
            <a:lvl2pPr>
              <a:defRPr sz="1600" spc="100" baseline="0">
                <a:latin typeface="Arial" panose="020B0604020202020204" pitchFamily="34" charset="0"/>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Date Placeholder 6">
            <a:extLst>
              <a:ext uri="{FF2B5EF4-FFF2-40B4-BE49-F238E27FC236}">
                <a16:creationId xmlns:a16="http://schemas.microsoft.com/office/drawing/2014/main" id="{B4EFD918-9427-DD01-E168-1576C483C8D2}"/>
              </a:ext>
            </a:extLst>
          </p:cNvPr>
          <p:cNvSpPr>
            <a:spLocks noGrp="1"/>
          </p:cNvSpPr>
          <p:nvPr>
            <p:ph type="dt" sz="half" idx="10"/>
          </p:nvPr>
        </p:nvSpPr>
        <p:spPr/>
        <p:txBody>
          <a:bodyPr/>
          <a:lstStyle/>
          <a:p>
            <a:fld id="{DE617E57-0E3E-49CA-A591-6F35B3BCBDFA}" type="datetimeFigureOut">
              <a:rPr lang="en-IN" smtClean="0"/>
              <a:t>12-05-2025</a:t>
            </a:fld>
            <a:endParaRPr lang="en-IN"/>
          </a:p>
        </p:txBody>
      </p:sp>
      <p:sp>
        <p:nvSpPr>
          <p:cNvPr id="8" name="Footer Placeholder 7">
            <a:extLst>
              <a:ext uri="{FF2B5EF4-FFF2-40B4-BE49-F238E27FC236}">
                <a16:creationId xmlns:a16="http://schemas.microsoft.com/office/drawing/2014/main" id="{47CFDFFC-A9F9-37B5-F9C7-71CDBC8BA92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2A64424-461E-80F3-CFE7-002FFC79C82B}"/>
              </a:ext>
            </a:extLst>
          </p:cNvPr>
          <p:cNvSpPr>
            <a:spLocks noGrp="1"/>
          </p:cNvSpPr>
          <p:nvPr>
            <p:ph type="sldNum" sz="quarter" idx="12"/>
          </p:nvPr>
        </p:nvSpPr>
        <p:spPr/>
        <p:txBody>
          <a:bodyPr/>
          <a:lstStyle/>
          <a:p>
            <a:fld id="{748DEDB4-F597-4825-8F59-9BB34A5C81A9}" type="slidenum">
              <a:rPr lang="en-IN" smtClean="0"/>
              <a:t>‹#›</a:t>
            </a:fld>
            <a:endParaRPr lang="en-IN"/>
          </a:p>
        </p:txBody>
      </p:sp>
    </p:spTree>
    <p:extLst>
      <p:ext uri="{BB962C8B-B14F-4D97-AF65-F5344CB8AC3E}">
        <p14:creationId xmlns:p14="http://schemas.microsoft.com/office/powerpoint/2010/main" val="38334148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20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917228-BC62-B82A-AB84-37C805C9ED67}"/>
              </a:ext>
            </a:extLst>
          </p:cNvPr>
          <p:cNvSpPr>
            <a:spLocks noGrp="1"/>
          </p:cNvSpPr>
          <p:nvPr>
            <p:ph idx="1"/>
          </p:nvPr>
        </p:nvSpPr>
        <p:spPr/>
        <p:txBody>
          <a:bodyPr/>
          <a:lstStyle>
            <a:lvl2pPr>
              <a:defRPr sz="1600" spc="100" baseline="0">
                <a:latin typeface="Arial" panose="020B0604020202020204" pitchFamily="34" charset="0"/>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Date Placeholder 6">
            <a:extLst>
              <a:ext uri="{FF2B5EF4-FFF2-40B4-BE49-F238E27FC236}">
                <a16:creationId xmlns:a16="http://schemas.microsoft.com/office/drawing/2014/main" id="{B4EFD918-9427-DD01-E168-1576C483C8D2}"/>
              </a:ext>
            </a:extLst>
          </p:cNvPr>
          <p:cNvSpPr>
            <a:spLocks noGrp="1"/>
          </p:cNvSpPr>
          <p:nvPr>
            <p:ph type="dt" sz="half" idx="10"/>
          </p:nvPr>
        </p:nvSpPr>
        <p:spPr/>
        <p:txBody>
          <a:bodyPr/>
          <a:lstStyle/>
          <a:p>
            <a:fld id="{DE617E57-0E3E-49CA-A591-6F35B3BCBDFA}" type="datetimeFigureOut">
              <a:rPr lang="en-IN" smtClean="0"/>
              <a:t>12-05-2025</a:t>
            </a:fld>
            <a:endParaRPr lang="en-IN"/>
          </a:p>
        </p:txBody>
      </p:sp>
      <p:sp>
        <p:nvSpPr>
          <p:cNvPr id="8" name="Footer Placeholder 7">
            <a:extLst>
              <a:ext uri="{FF2B5EF4-FFF2-40B4-BE49-F238E27FC236}">
                <a16:creationId xmlns:a16="http://schemas.microsoft.com/office/drawing/2014/main" id="{47CFDFFC-A9F9-37B5-F9C7-71CDBC8BA92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2A64424-461E-80F3-CFE7-002FFC79C82B}"/>
              </a:ext>
            </a:extLst>
          </p:cNvPr>
          <p:cNvSpPr>
            <a:spLocks noGrp="1"/>
          </p:cNvSpPr>
          <p:nvPr>
            <p:ph type="sldNum" sz="quarter" idx="12"/>
          </p:nvPr>
        </p:nvSpPr>
        <p:spPr/>
        <p:txBody>
          <a:bodyPr/>
          <a:lstStyle/>
          <a:p>
            <a:fld id="{748DEDB4-F597-4825-8F59-9BB34A5C81A9}" type="slidenum">
              <a:rPr lang="en-IN" smtClean="0"/>
              <a:t>‹#›</a:t>
            </a:fld>
            <a:endParaRPr lang="en-IN"/>
          </a:p>
        </p:txBody>
      </p:sp>
    </p:spTree>
    <p:extLst>
      <p:ext uri="{BB962C8B-B14F-4D97-AF65-F5344CB8AC3E}">
        <p14:creationId xmlns:p14="http://schemas.microsoft.com/office/powerpoint/2010/main" val="241114581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2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917228-BC62-B82A-AB84-37C805C9ED67}"/>
              </a:ext>
            </a:extLst>
          </p:cNvPr>
          <p:cNvSpPr>
            <a:spLocks noGrp="1"/>
          </p:cNvSpPr>
          <p:nvPr>
            <p:ph idx="1"/>
          </p:nvPr>
        </p:nvSpPr>
        <p:spPr/>
        <p:txBody>
          <a:bodyPr/>
          <a:lstStyle>
            <a:lvl2pPr>
              <a:defRPr sz="1600" spc="100" baseline="0">
                <a:latin typeface="Arial" panose="020B0604020202020204" pitchFamily="34" charset="0"/>
              </a:defRPr>
            </a:lvl2pPr>
            <a:lvl3pPr>
              <a:defRPr sz="1600"/>
            </a:lvl3pPr>
            <a:lvl4pPr>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Date Placeholder 6">
            <a:extLst>
              <a:ext uri="{FF2B5EF4-FFF2-40B4-BE49-F238E27FC236}">
                <a16:creationId xmlns:a16="http://schemas.microsoft.com/office/drawing/2014/main" id="{B4EFD918-9427-DD01-E168-1576C483C8D2}"/>
              </a:ext>
            </a:extLst>
          </p:cNvPr>
          <p:cNvSpPr>
            <a:spLocks noGrp="1"/>
          </p:cNvSpPr>
          <p:nvPr>
            <p:ph type="dt" sz="half" idx="10"/>
          </p:nvPr>
        </p:nvSpPr>
        <p:spPr/>
        <p:txBody>
          <a:bodyPr/>
          <a:lstStyle/>
          <a:p>
            <a:fld id="{DE617E57-0E3E-49CA-A591-6F35B3BCBDFA}" type="datetimeFigureOut">
              <a:rPr lang="en-IN" smtClean="0"/>
              <a:t>12-05-2025</a:t>
            </a:fld>
            <a:endParaRPr lang="en-IN"/>
          </a:p>
        </p:txBody>
      </p:sp>
      <p:sp>
        <p:nvSpPr>
          <p:cNvPr id="8" name="Footer Placeholder 7">
            <a:extLst>
              <a:ext uri="{FF2B5EF4-FFF2-40B4-BE49-F238E27FC236}">
                <a16:creationId xmlns:a16="http://schemas.microsoft.com/office/drawing/2014/main" id="{47CFDFFC-A9F9-37B5-F9C7-71CDBC8BA92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2A64424-461E-80F3-CFE7-002FFC79C82B}"/>
              </a:ext>
            </a:extLst>
          </p:cNvPr>
          <p:cNvSpPr>
            <a:spLocks noGrp="1"/>
          </p:cNvSpPr>
          <p:nvPr>
            <p:ph type="sldNum" sz="quarter" idx="12"/>
          </p:nvPr>
        </p:nvSpPr>
        <p:spPr/>
        <p:txBody>
          <a:bodyPr/>
          <a:lstStyle/>
          <a:p>
            <a:fld id="{748DEDB4-F597-4825-8F59-9BB34A5C81A9}" type="slidenum">
              <a:rPr lang="en-IN" smtClean="0"/>
              <a:t>‹#›</a:t>
            </a:fld>
            <a:endParaRPr lang="en-IN"/>
          </a:p>
        </p:txBody>
      </p:sp>
    </p:spTree>
    <p:extLst>
      <p:ext uri="{BB962C8B-B14F-4D97-AF65-F5344CB8AC3E}">
        <p14:creationId xmlns:p14="http://schemas.microsoft.com/office/powerpoint/2010/main" val="305599081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22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917228-BC62-B82A-AB84-37C805C9ED67}"/>
              </a:ext>
            </a:extLst>
          </p:cNvPr>
          <p:cNvSpPr>
            <a:spLocks noGrp="1"/>
          </p:cNvSpPr>
          <p:nvPr>
            <p:ph idx="1"/>
          </p:nvPr>
        </p:nvSpPr>
        <p:spPr/>
        <p:txBody>
          <a:bodyPr/>
          <a:lstStyle>
            <a:lvl2pPr>
              <a:defRPr sz="1600" spc="100" baseline="0">
                <a:latin typeface="Arial" panose="020B0604020202020204" pitchFamily="34" charset="0"/>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Date Placeholder 6">
            <a:extLst>
              <a:ext uri="{FF2B5EF4-FFF2-40B4-BE49-F238E27FC236}">
                <a16:creationId xmlns:a16="http://schemas.microsoft.com/office/drawing/2014/main" id="{B4EFD918-9427-DD01-E168-1576C483C8D2}"/>
              </a:ext>
            </a:extLst>
          </p:cNvPr>
          <p:cNvSpPr>
            <a:spLocks noGrp="1"/>
          </p:cNvSpPr>
          <p:nvPr>
            <p:ph type="dt" sz="half" idx="10"/>
          </p:nvPr>
        </p:nvSpPr>
        <p:spPr/>
        <p:txBody>
          <a:bodyPr/>
          <a:lstStyle/>
          <a:p>
            <a:fld id="{DE617E57-0E3E-49CA-A591-6F35B3BCBDFA}" type="datetimeFigureOut">
              <a:rPr lang="en-IN" smtClean="0"/>
              <a:t>12-05-2025</a:t>
            </a:fld>
            <a:endParaRPr lang="en-IN"/>
          </a:p>
        </p:txBody>
      </p:sp>
      <p:sp>
        <p:nvSpPr>
          <p:cNvPr id="8" name="Footer Placeholder 7">
            <a:extLst>
              <a:ext uri="{FF2B5EF4-FFF2-40B4-BE49-F238E27FC236}">
                <a16:creationId xmlns:a16="http://schemas.microsoft.com/office/drawing/2014/main" id="{47CFDFFC-A9F9-37B5-F9C7-71CDBC8BA92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2A64424-461E-80F3-CFE7-002FFC79C82B}"/>
              </a:ext>
            </a:extLst>
          </p:cNvPr>
          <p:cNvSpPr>
            <a:spLocks noGrp="1"/>
          </p:cNvSpPr>
          <p:nvPr>
            <p:ph type="sldNum" sz="quarter" idx="12"/>
          </p:nvPr>
        </p:nvSpPr>
        <p:spPr/>
        <p:txBody>
          <a:bodyPr/>
          <a:lstStyle/>
          <a:p>
            <a:fld id="{748DEDB4-F597-4825-8F59-9BB34A5C81A9}" type="slidenum">
              <a:rPr lang="en-IN" smtClean="0"/>
              <a:t>‹#›</a:t>
            </a:fld>
            <a:endParaRPr lang="en-IN"/>
          </a:p>
        </p:txBody>
      </p:sp>
    </p:spTree>
    <p:extLst>
      <p:ext uri="{BB962C8B-B14F-4D97-AF65-F5344CB8AC3E}">
        <p14:creationId xmlns:p14="http://schemas.microsoft.com/office/powerpoint/2010/main" val="275014960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23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917228-BC62-B82A-AB84-37C805C9ED67}"/>
              </a:ext>
            </a:extLst>
          </p:cNvPr>
          <p:cNvSpPr>
            <a:spLocks noGrp="1"/>
          </p:cNvSpPr>
          <p:nvPr>
            <p:ph idx="1"/>
          </p:nvPr>
        </p:nvSpPr>
        <p:spPr/>
        <p:txBody>
          <a:bodyPr/>
          <a:lstStyle>
            <a:lvl2pPr>
              <a:defRPr sz="1600" spc="100" baseline="0">
                <a:latin typeface="Arial" panose="020B0604020202020204" pitchFamily="34" charset="0"/>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Date Placeholder 6">
            <a:extLst>
              <a:ext uri="{FF2B5EF4-FFF2-40B4-BE49-F238E27FC236}">
                <a16:creationId xmlns:a16="http://schemas.microsoft.com/office/drawing/2014/main" id="{B4EFD918-9427-DD01-E168-1576C483C8D2}"/>
              </a:ext>
            </a:extLst>
          </p:cNvPr>
          <p:cNvSpPr>
            <a:spLocks noGrp="1"/>
          </p:cNvSpPr>
          <p:nvPr>
            <p:ph type="dt" sz="half" idx="10"/>
          </p:nvPr>
        </p:nvSpPr>
        <p:spPr/>
        <p:txBody>
          <a:bodyPr/>
          <a:lstStyle/>
          <a:p>
            <a:fld id="{DE617E57-0E3E-49CA-A591-6F35B3BCBDFA}" type="datetimeFigureOut">
              <a:rPr lang="en-IN" smtClean="0"/>
              <a:t>12-05-2025</a:t>
            </a:fld>
            <a:endParaRPr lang="en-IN"/>
          </a:p>
        </p:txBody>
      </p:sp>
      <p:sp>
        <p:nvSpPr>
          <p:cNvPr id="8" name="Footer Placeholder 7">
            <a:extLst>
              <a:ext uri="{FF2B5EF4-FFF2-40B4-BE49-F238E27FC236}">
                <a16:creationId xmlns:a16="http://schemas.microsoft.com/office/drawing/2014/main" id="{47CFDFFC-A9F9-37B5-F9C7-71CDBC8BA92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2A64424-461E-80F3-CFE7-002FFC79C82B}"/>
              </a:ext>
            </a:extLst>
          </p:cNvPr>
          <p:cNvSpPr>
            <a:spLocks noGrp="1"/>
          </p:cNvSpPr>
          <p:nvPr>
            <p:ph type="sldNum" sz="quarter" idx="12"/>
          </p:nvPr>
        </p:nvSpPr>
        <p:spPr/>
        <p:txBody>
          <a:bodyPr/>
          <a:lstStyle/>
          <a:p>
            <a:fld id="{748DEDB4-F597-4825-8F59-9BB34A5C81A9}" type="slidenum">
              <a:rPr lang="en-IN" smtClean="0"/>
              <a:t>‹#›</a:t>
            </a:fld>
            <a:endParaRPr lang="en-IN"/>
          </a:p>
        </p:txBody>
      </p:sp>
    </p:spTree>
    <p:extLst>
      <p:ext uri="{BB962C8B-B14F-4D97-AF65-F5344CB8AC3E}">
        <p14:creationId xmlns:p14="http://schemas.microsoft.com/office/powerpoint/2010/main" val="86959408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4F2E08-22E4-DADF-9DF6-E98736CE7D4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22C9640-A8F5-98DD-97F3-2CDA6A91D7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26BEC1C-2B04-874C-C0D1-CD81C7BB99A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E617E57-0E3E-49CA-A591-6F35B3BCBDFA}" type="datetimeFigureOut">
              <a:rPr lang="en-IN" smtClean="0"/>
              <a:t>12-05-2025</a:t>
            </a:fld>
            <a:endParaRPr lang="en-IN"/>
          </a:p>
        </p:txBody>
      </p:sp>
      <p:sp>
        <p:nvSpPr>
          <p:cNvPr id="5" name="Footer Placeholder 4">
            <a:extLst>
              <a:ext uri="{FF2B5EF4-FFF2-40B4-BE49-F238E27FC236}">
                <a16:creationId xmlns:a16="http://schemas.microsoft.com/office/drawing/2014/main" id="{ACD156BA-38A5-8223-E65B-58FA390DDE5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6C926E1C-928F-254F-8524-5A2106C255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48DEDB4-F597-4825-8F59-9BB34A5C81A9}" type="slidenum">
              <a:rPr lang="en-IN" smtClean="0"/>
              <a:t>‹#›</a:t>
            </a:fld>
            <a:endParaRPr lang="en-IN"/>
          </a:p>
        </p:txBody>
      </p:sp>
    </p:spTree>
    <p:extLst>
      <p:ext uri="{BB962C8B-B14F-4D97-AF65-F5344CB8AC3E}">
        <p14:creationId xmlns:p14="http://schemas.microsoft.com/office/powerpoint/2010/main" val="785222536"/>
      </p:ext>
    </p:extLst>
  </p:cSld>
  <p:clrMap bg1="lt1" tx1="dk1" bg2="lt2" tx2="dk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6" r:id="rId5"/>
    <p:sldLayoutId id="2147483747" r:id="rId6"/>
    <p:sldLayoutId id="2147483748" r:id="rId7"/>
    <p:sldLayoutId id="2147483749" r:id="rId8"/>
    <p:sldLayoutId id="2147483750" r:id="rId9"/>
    <p:sldLayoutId id="2147483751" r:id="rId10"/>
    <p:sldLayoutId id="2147483752" r:id="rId11"/>
    <p:sldLayoutId id="2147483753" r:id="rId12"/>
    <p:sldLayoutId id="2147483754" r:id="rId13"/>
    <p:sldLayoutId id="2147483755" r:id="rId14"/>
    <p:sldLayoutId id="2147483756" r:id="rId15"/>
    <p:sldLayoutId id="2147483757" r:id="rId16"/>
    <p:sldLayoutId id="2147483758" r:id="rId17"/>
    <p:sldLayoutId id="2147483759" r:id="rId18"/>
    <p:sldLayoutId id="2147483760" r:id="rId19"/>
    <p:sldLayoutId id="2147483761" r:id="rId20"/>
    <p:sldLayoutId id="2147483762" r:id="rId21"/>
    <p:sldLayoutId id="2147483763" r:id="rId22"/>
    <p:sldLayoutId id="2147483764" r:id="rId23"/>
    <p:sldLayoutId id="2147483765" r:id="rId24"/>
    <p:sldLayoutId id="2147483766" r:id="rId25"/>
    <p:sldLayoutId id="2147483767" r:id="rId26"/>
    <p:sldLayoutId id="2147483768" r:id="rId27"/>
    <p:sldLayoutId id="2147483769" r:id="rId28"/>
    <p:sldLayoutId id="2147483770" r:id="rId29"/>
    <p:sldLayoutId id="2147483771" r:id="rId30"/>
    <p:sldLayoutId id="2147483772" r:id="rId31"/>
    <p:sldLayoutId id="2147483773" r:id="rId32"/>
    <p:sldLayoutId id="2147483774" r:id="rId33"/>
    <p:sldLayoutId id="2147483775" r:id="rId3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7.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8.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9.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0.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1.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3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3.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98B75-18E5-485A-0703-40EBA739E50B}"/>
              </a:ext>
            </a:extLst>
          </p:cNvPr>
          <p:cNvSpPr>
            <a:spLocks noGrp="1"/>
          </p:cNvSpPr>
          <p:nvPr>
            <p:ph type="ctrTitle"/>
          </p:nvPr>
        </p:nvSpPr>
        <p:spPr>
          <a:xfrm>
            <a:off x="1524000" y="1122363"/>
            <a:ext cx="9144000" cy="2763838"/>
          </a:xfrm>
        </p:spPr>
        <p:txBody>
          <a:bodyPr>
            <a:normAutofit/>
          </a:bodyPr>
          <a:lstStyle/>
          <a:p>
            <a:pPr>
              <a:lnSpc>
                <a:spcPct val="150000"/>
              </a:lnSpc>
            </a:pPr>
            <a:r>
              <a:rPr lang="en-US" sz="2000" b="1" dirty="0"/>
              <a:t>Detecting Fraud in Financial Transactions using SQL</a:t>
            </a:r>
            <a:br>
              <a:rPr lang="en-US" sz="2000" dirty="0"/>
            </a:br>
            <a:endParaRPr lang="en-IN" sz="2000" dirty="0"/>
          </a:p>
        </p:txBody>
      </p:sp>
    </p:spTree>
    <p:extLst>
      <p:ext uri="{BB962C8B-B14F-4D97-AF65-F5344CB8AC3E}">
        <p14:creationId xmlns:p14="http://schemas.microsoft.com/office/powerpoint/2010/main" val="11730816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CDA1A9-853C-C877-E825-C58D5BC354F1}"/>
              </a:ext>
            </a:extLst>
          </p:cNvPr>
          <p:cNvSpPr>
            <a:spLocks noGrp="1"/>
          </p:cNvSpPr>
          <p:nvPr>
            <p:ph idx="1"/>
          </p:nvPr>
        </p:nvSpPr>
        <p:spPr/>
        <p:txBody>
          <a:bodyPr/>
          <a:lstStyle/>
          <a:p>
            <a:pPr>
              <a:lnSpc>
                <a:spcPct val="150000"/>
              </a:lnSpc>
            </a:pPr>
            <a:r>
              <a:rPr lang="en-US" sz="1600" dirty="0">
                <a:latin typeface="Arial" panose="020B0604020202020204" pitchFamily="34" charset="0"/>
                <a:cs typeface="Arial" panose="020B0604020202020204" pitchFamily="34" charset="0"/>
              </a:rPr>
              <a:t>This project uses SQL to analyze financial transaction data from the </a:t>
            </a:r>
            <a:r>
              <a:rPr lang="en-US" sz="1600" dirty="0" err="1">
                <a:latin typeface="Arial" panose="020B0604020202020204" pitchFamily="34" charset="0"/>
                <a:cs typeface="Arial" panose="020B0604020202020204" pitchFamily="34" charset="0"/>
              </a:rPr>
              <a:t>PaySim</a:t>
            </a:r>
            <a:r>
              <a:rPr lang="en-US" sz="1600" dirty="0">
                <a:latin typeface="Arial" panose="020B0604020202020204" pitchFamily="34" charset="0"/>
                <a:cs typeface="Arial" panose="020B0604020202020204" pitchFamily="34" charset="0"/>
              </a:rPr>
              <a:t> dataset. The dataset simulates mobile money transactions and includes information about transaction type, origin and destination accounts, amount, and fraud labels. We perform Exploratory Data Analysis (EDA) and in-depth fraud detection using Common Table Expressions (CTEs), aggregation, filtering, and pattern matching.</a:t>
            </a:r>
          </a:p>
          <a:p>
            <a:pPr marL="0" indent="0">
              <a:lnSpc>
                <a:spcPct val="150000"/>
              </a:lnSpc>
              <a:buNone/>
            </a:pPr>
            <a:endParaRPr lang="en-IN" sz="1600" dirty="0"/>
          </a:p>
        </p:txBody>
      </p:sp>
      <p:sp>
        <p:nvSpPr>
          <p:cNvPr id="2" name="Title 1">
            <a:extLst>
              <a:ext uri="{FF2B5EF4-FFF2-40B4-BE49-F238E27FC236}">
                <a16:creationId xmlns:a16="http://schemas.microsoft.com/office/drawing/2014/main" id="{12A0F71C-3112-19DB-98FB-C3F90247288D}"/>
              </a:ext>
            </a:extLst>
          </p:cNvPr>
          <p:cNvSpPr>
            <a:spLocks noGrp="1"/>
          </p:cNvSpPr>
          <p:nvPr>
            <p:ph type="title" idx="4294967295"/>
          </p:nvPr>
        </p:nvSpPr>
        <p:spPr>
          <a:xfrm>
            <a:off x="0" y="365125"/>
            <a:ext cx="10515600" cy="1325563"/>
          </a:xfrm>
        </p:spPr>
        <p:txBody>
          <a:bodyPr>
            <a:noAutofit/>
          </a:bodyPr>
          <a:lstStyle/>
          <a:p>
            <a:pPr>
              <a:lnSpc>
                <a:spcPct val="150000"/>
              </a:lnSpc>
            </a:pPr>
            <a:br>
              <a:rPr lang="en-IN" sz="2000" b="1" dirty="0"/>
            </a:br>
            <a:r>
              <a:rPr lang="en-IN" sz="2000" b="1" dirty="0"/>
              <a:t>        Project Summary</a:t>
            </a:r>
            <a:br>
              <a:rPr lang="en-IN" sz="2000" b="1" dirty="0"/>
            </a:br>
            <a:endParaRPr lang="en-IN" sz="2000" dirty="0"/>
          </a:p>
        </p:txBody>
      </p:sp>
    </p:spTree>
    <p:extLst>
      <p:ext uri="{BB962C8B-B14F-4D97-AF65-F5344CB8AC3E}">
        <p14:creationId xmlns:p14="http://schemas.microsoft.com/office/powerpoint/2010/main" val="2447837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BB4DBE1-C5BC-E0F8-485D-F082EABC67FE}"/>
              </a:ext>
            </a:extLst>
          </p:cNvPr>
          <p:cNvSpPr>
            <a:spLocks noGrp="1"/>
          </p:cNvSpPr>
          <p:nvPr>
            <p:ph idx="1"/>
          </p:nvPr>
        </p:nvSpPr>
        <p:spPr/>
        <p:txBody>
          <a:bodyPr/>
          <a:lstStyle/>
          <a:p>
            <a:pPr>
              <a:lnSpc>
                <a:spcPct val="150000"/>
              </a:lnSpc>
            </a:pPr>
            <a:r>
              <a:rPr lang="en-US" sz="1600" dirty="0">
                <a:latin typeface="Arial" panose="020B0604020202020204" pitchFamily="34" charset="0"/>
                <a:cs typeface="Arial" panose="020B0604020202020204" pitchFamily="34" charset="0"/>
              </a:rPr>
              <a:t>Analyze financial transactions using SQL</a:t>
            </a:r>
          </a:p>
          <a:p>
            <a:pPr>
              <a:lnSpc>
                <a:spcPct val="150000"/>
              </a:lnSpc>
            </a:pPr>
            <a:r>
              <a:rPr lang="en-US" sz="1600" dirty="0">
                <a:latin typeface="Arial" panose="020B0604020202020204" pitchFamily="34" charset="0"/>
                <a:cs typeface="Arial" panose="020B0604020202020204" pitchFamily="34" charset="0"/>
              </a:rPr>
              <a:t>Detect patterns and behaviors associated with fraudulent activity</a:t>
            </a:r>
          </a:p>
          <a:p>
            <a:pPr>
              <a:lnSpc>
                <a:spcPct val="150000"/>
              </a:lnSpc>
            </a:pPr>
            <a:r>
              <a:rPr lang="en-US" sz="1600" dirty="0">
                <a:latin typeface="Arial" panose="020B0604020202020204" pitchFamily="34" charset="0"/>
                <a:cs typeface="Arial" panose="020B0604020202020204" pitchFamily="34" charset="0"/>
              </a:rPr>
              <a:t>Understand transaction trends, anomalies, and flagged cases</a:t>
            </a:r>
          </a:p>
          <a:p>
            <a:pPr>
              <a:lnSpc>
                <a:spcPct val="150000"/>
              </a:lnSpc>
            </a:pPr>
            <a:endParaRPr lang="en-IN" sz="1600" dirty="0"/>
          </a:p>
        </p:txBody>
      </p:sp>
      <p:sp>
        <p:nvSpPr>
          <p:cNvPr id="2" name="Title 1">
            <a:extLst>
              <a:ext uri="{FF2B5EF4-FFF2-40B4-BE49-F238E27FC236}">
                <a16:creationId xmlns:a16="http://schemas.microsoft.com/office/drawing/2014/main" id="{D858F42E-4C2B-CDCA-695B-9F9159568683}"/>
              </a:ext>
            </a:extLst>
          </p:cNvPr>
          <p:cNvSpPr>
            <a:spLocks noGrp="1"/>
          </p:cNvSpPr>
          <p:nvPr>
            <p:ph type="title" idx="4294967295"/>
          </p:nvPr>
        </p:nvSpPr>
        <p:spPr>
          <a:xfrm>
            <a:off x="0" y="365125"/>
            <a:ext cx="10515600" cy="1325563"/>
          </a:xfrm>
        </p:spPr>
        <p:txBody>
          <a:bodyPr>
            <a:normAutofit/>
          </a:bodyPr>
          <a:lstStyle/>
          <a:p>
            <a:pPr>
              <a:lnSpc>
                <a:spcPct val="150000"/>
              </a:lnSpc>
            </a:pPr>
            <a:br>
              <a:rPr lang="en-IN" sz="1600" b="1" dirty="0"/>
            </a:br>
            <a:r>
              <a:rPr lang="en-IN" sz="1600" b="1" dirty="0"/>
              <a:t>   </a:t>
            </a:r>
            <a:r>
              <a:rPr lang="en-IN" sz="2000" b="1" dirty="0"/>
              <a:t>Objective</a:t>
            </a:r>
            <a:br>
              <a:rPr lang="en-IN" sz="1600" b="1" dirty="0"/>
            </a:br>
            <a:endParaRPr lang="en-IN" sz="1600" dirty="0"/>
          </a:p>
        </p:txBody>
      </p:sp>
    </p:spTree>
    <p:extLst>
      <p:ext uri="{BB962C8B-B14F-4D97-AF65-F5344CB8AC3E}">
        <p14:creationId xmlns:p14="http://schemas.microsoft.com/office/powerpoint/2010/main" val="33578176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3D92A1-43A3-DBB5-B552-675D682D53B3}"/>
              </a:ext>
            </a:extLst>
          </p:cNvPr>
          <p:cNvSpPr>
            <a:spLocks noGrp="1"/>
          </p:cNvSpPr>
          <p:nvPr>
            <p:ph idx="1"/>
          </p:nvPr>
        </p:nvSpPr>
        <p:spPr/>
        <p:txBody>
          <a:bodyPr/>
          <a:lstStyle/>
          <a:p>
            <a:pPr>
              <a:lnSpc>
                <a:spcPct val="150000"/>
              </a:lnSpc>
            </a:pPr>
            <a:r>
              <a:rPr lang="en-IN" sz="1600" dirty="0">
                <a:latin typeface="Arial" panose="020B0604020202020204" pitchFamily="34" charset="0"/>
                <a:cs typeface="Arial" panose="020B0604020202020204" pitchFamily="34" charset="0"/>
              </a:rPr>
              <a:t>Columns:</a:t>
            </a:r>
          </a:p>
          <a:p>
            <a:pPr marL="228600" lvl="1">
              <a:lnSpc>
                <a:spcPct val="150000"/>
              </a:lnSpc>
              <a:spcBef>
                <a:spcPts val="1000"/>
              </a:spcBef>
            </a:pPr>
            <a:r>
              <a:rPr lang="en-IN" sz="1600" dirty="0">
                <a:latin typeface="Arial" panose="020B0604020202020204" pitchFamily="34" charset="0"/>
                <a:cs typeface="Arial" panose="020B0604020202020204" pitchFamily="34" charset="0"/>
              </a:rPr>
              <a:t>step, type, amount</a:t>
            </a:r>
          </a:p>
          <a:p>
            <a:pPr marL="228600" lvl="1">
              <a:lnSpc>
                <a:spcPct val="150000"/>
              </a:lnSpc>
              <a:spcBef>
                <a:spcPts val="1000"/>
              </a:spcBef>
            </a:pPr>
            <a:r>
              <a:rPr lang="en-IN" sz="1600" dirty="0" err="1">
                <a:latin typeface="Arial" panose="020B0604020202020204" pitchFamily="34" charset="0"/>
                <a:cs typeface="Arial" panose="020B0604020202020204" pitchFamily="34" charset="0"/>
              </a:rPr>
              <a:t>nameOrig</a:t>
            </a:r>
            <a:r>
              <a:rPr lang="en-IN" sz="1600" dirty="0">
                <a:latin typeface="Arial" panose="020B0604020202020204" pitchFamily="34" charset="0"/>
                <a:cs typeface="Arial" panose="020B0604020202020204" pitchFamily="34" charset="0"/>
              </a:rPr>
              <a:t>, </a:t>
            </a:r>
            <a:r>
              <a:rPr lang="en-IN" sz="1600" dirty="0" err="1">
                <a:latin typeface="Arial" panose="020B0604020202020204" pitchFamily="34" charset="0"/>
                <a:cs typeface="Arial" panose="020B0604020202020204" pitchFamily="34" charset="0"/>
              </a:rPr>
              <a:t>oldbalanceOrg</a:t>
            </a:r>
            <a:r>
              <a:rPr lang="en-IN" sz="1600" dirty="0">
                <a:latin typeface="Arial" panose="020B0604020202020204" pitchFamily="34" charset="0"/>
                <a:cs typeface="Arial" panose="020B0604020202020204" pitchFamily="34" charset="0"/>
              </a:rPr>
              <a:t>, </a:t>
            </a:r>
            <a:r>
              <a:rPr lang="en-IN" sz="1600" dirty="0" err="1">
                <a:latin typeface="Arial" panose="020B0604020202020204" pitchFamily="34" charset="0"/>
                <a:cs typeface="Arial" panose="020B0604020202020204" pitchFamily="34" charset="0"/>
              </a:rPr>
              <a:t>newbalanceOrig</a:t>
            </a:r>
            <a:endParaRPr lang="en-IN" sz="1600" dirty="0">
              <a:latin typeface="Arial" panose="020B0604020202020204" pitchFamily="34" charset="0"/>
              <a:cs typeface="Arial" panose="020B0604020202020204" pitchFamily="34" charset="0"/>
            </a:endParaRPr>
          </a:p>
          <a:p>
            <a:pPr marL="228600" lvl="1">
              <a:lnSpc>
                <a:spcPct val="150000"/>
              </a:lnSpc>
              <a:spcBef>
                <a:spcPts val="1000"/>
              </a:spcBef>
            </a:pPr>
            <a:r>
              <a:rPr lang="en-IN" sz="1600" dirty="0" err="1">
                <a:latin typeface="Arial" panose="020B0604020202020204" pitchFamily="34" charset="0"/>
                <a:cs typeface="Arial" panose="020B0604020202020204" pitchFamily="34" charset="0"/>
              </a:rPr>
              <a:t>nameDest</a:t>
            </a:r>
            <a:r>
              <a:rPr lang="en-IN" sz="1600" dirty="0">
                <a:latin typeface="Arial" panose="020B0604020202020204" pitchFamily="34" charset="0"/>
                <a:cs typeface="Arial" panose="020B0604020202020204" pitchFamily="34" charset="0"/>
              </a:rPr>
              <a:t>, </a:t>
            </a:r>
            <a:r>
              <a:rPr lang="en-IN" sz="1600" dirty="0" err="1">
                <a:latin typeface="Arial" panose="020B0604020202020204" pitchFamily="34" charset="0"/>
                <a:cs typeface="Arial" panose="020B0604020202020204" pitchFamily="34" charset="0"/>
              </a:rPr>
              <a:t>oldbalanceDest</a:t>
            </a:r>
            <a:r>
              <a:rPr lang="en-IN" sz="1600" dirty="0">
                <a:latin typeface="Arial" panose="020B0604020202020204" pitchFamily="34" charset="0"/>
                <a:cs typeface="Arial" panose="020B0604020202020204" pitchFamily="34" charset="0"/>
              </a:rPr>
              <a:t>, </a:t>
            </a:r>
            <a:r>
              <a:rPr lang="en-IN" sz="1600" dirty="0" err="1">
                <a:latin typeface="Arial" panose="020B0604020202020204" pitchFamily="34" charset="0"/>
                <a:cs typeface="Arial" panose="020B0604020202020204" pitchFamily="34" charset="0"/>
              </a:rPr>
              <a:t>newbalanceDest</a:t>
            </a:r>
            <a:endParaRPr lang="en-IN" sz="1600" dirty="0">
              <a:latin typeface="Arial" panose="020B0604020202020204" pitchFamily="34" charset="0"/>
              <a:cs typeface="Arial" panose="020B0604020202020204" pitchFamily="34" charset="0"/>
            </a:endParaRPr>
          </a:p>
          <a:p>
            <a:pPr marL="228600" lvl="1">
              <a:lnSpc>
                <a:spcPct val="150000"/>
              </a:lnSpc>
              <a:spcBef>
                <a:spcPts val="1000"/>
              </a:spcBef>
            </a:pPr>
            <a:r>
              <a:rPr lang="en-IN" sz="1600" dirty="0" err="1">
                <a:latin typeface="Arial" panose="020B0604020202020204" pitchFamily="34" charset="0"/>
                <a:cs typeface="Arial" panose="020B0604020202020204" pitchFamily="34" charset="0"/>
              </a:rPr>
              <a:t>isFraud</a:t>
            </a:r>
            <a:r>
              <a:rPr lang="en-IN" sz="1600" dirty="0">
                <a:latin typeface="Arial" panose="020B0604020202020204" pitchFamily="34" charset="0"/>
                <a:cs typeface="Arial" panose="020B0604020202020204" pitchFamily="34" charset="0"/>
              </a:rPr>
              <a:t>, </a:t>
            </a:r>
            <a:r>
              <a:rPr lang="en-IN" sz="1600" dirty="0" err="1">
                <a:latin typeface="Arial" panose="020B0604020202020204" pitchFamily="34" charset="0"/>
                <a:cs typeface="Arial" panose="020B0604020202020204" pitchFamily="34" charset="0"/>
              </a:rPr>
              <a:t>isFlaggedFraud</a:t>
            </a:r>
            <a:endParaRPr lang="en-IN" sz="1600" dirty="0">
              <a:latin typeface="Arial" panose="020B0604020202020204" pitchFamily="34" charset="0"/>
              <a:cs typeface="Arial" panose="020B0604020202020204" pitchFamily="34" charset="0"/>
            </a:endParaRPr>
          </a:p>
          <a:p>
            <a:pPr>
              <a:lnSpc>
                <a:spcPct val="150000"/>
              </a:lnSpc>
            </a:pPr>
            <a:r>
              <a:rPr lang="en-IN" sz="1600" dirty="0">
                <a:latin typeface="Arial" panose="020B0604020202020204" pitchFamily="34" charset="0"/>
                <a:cs typeface="Arial" panose="020B0604020202020204" pitchFamily="34" charset="0"/>
              </a:rPr>
              <a:t>Over 6 million transactions</a:t>
            </a:r>
          </a:p>
          <a:p>
            <a:pPr>
              <a:lnSpc>
                <a:spcPct val="150000"/>
              </a:lnSpc>
            </a:pPr>
            <a:endParaRPr lang="en-IN" sz="1600" dirty="0"/>
          </a:p>
        </p:txBody>
      </p:sp>
      <p:sp>
        <p:nvSpPr>
          <p:cNvPr id="2" name="Title 1">
            <a:extLst>
              <a:ext uri="{FF2B5EF4-FFF2-40B4-BE49-F238E27FC236}">
                <a16:creationId xmlns:a16="http://schemas.microsoft.com/office/drawing/2014/main" id="{36DB5604-B99E-2141-9D84-B1C1EFB1C0EB}"/>
              </a:ext>
            </a:extLst>
          </p:cNvPr>
          <p:cNvSpPr>
            <a:spLocks noGrp="1"/>
          </p:cNvSpPr>
          <p:nvPr>
            <p:ph type="title" idx="4294967295"/>
          </p:nvPr>
        </p:nvSpPr>
        <p:spPr>
          <a:xfrm>
            <a:off x="0" y="365125"/>
            <a:ext cx="10515600" cy="1325563"/>
          </a:xfrm>
        </p:spPr>
        <p:txBody>
          <a:bodyPr>
            <a:noAutofit/>
          </a:bodyPr>
          <a:lstStyle/>
          <a:p>
            <a:pPr>
              <a:lnSpc>
                <a:spcPct val="150000"/>
              </a:lnSpc>
            </a:pPr>
            <a:br>
              <a:rPr lang="en-IN" sz="2000" b="1" dirty="0"/>
            </a:br>
            <a:r>
              <a:rPr lang="en-IN" sz="2000" b="1" dirty="0"/>
              <a:t>    Dataset Overview</a:t>
            </a:r>
            <a:br>
              <a:rPr lang="en-IN" sz="2000" b="1" dirty="0"/>
            </a:br>
            <a:endParaRPr lang="en-IN" sz="2000" dirty="0"/>
          </a:p>
        </p:txBody>
      </p:sp>
    </p:spTree>
    <p:extLst>
      <p:ext uri="{BB962C8B-B14F-4D97-AF65-F5344CB8AC3E}">
        <p14:creationId xmlns:p14="http://schemas.microsoft.com/office/powerpoint/2010/main" val="13524115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ABB3F1-A8AD-65AD-45DF-97C5728271A9}"/>
              </a:ext>
            </a:extLst>
          </p:cNvPr>
          <p:cNvSpPr>
            <a:spLocks noGrp="1"/>
          </p:cNvSpPr>
          <p:nvPr>
            <p:ph idx="1"/>
          </p:nvPr>
        </p:nvSpPr>
        <p:spPr>
          <a:xfrm>
            <a:off x="838200" y="1837944"/>
            <a:ext cx="10896600" cy="4339019"/>
          </a:xfrm>
        </p:spPr>
        <p:txBody>
          <a:bodyPr/>
          <a:lstStyle/>
          <a:p>
            <a:pPr>
              <a:lnSpc>
                <a:spcPct val="150000"/>
              </a:lnSpc>
            </a:pPr>
            <a:r>
              <a:rPr lang="en-US" sz="1600" b="1" dirty="0"/>
              <a:t> What is the total number of transactions and how many are fraudulent?</a:t>
            </a:r>
            <a:endParaRPr lang="en-US" sz="1600" dirty="0"/>
          </a:p>
          <a:p>
            <a:pPr>
              <a:lnSpc>
                <a:spcPct val="150000"/>
              </a:lnSpc>
            </a:pPr>
            <a:endParaRPr lang="en-IN" sz="1600" dirty="0"/>
          </a:p>
          <a:p>
            <a:pPr>
              <a:lnSpc>
                <a:spcPct val="150000"/>
              </a:lnSpc>
            </a:pPr>
            <a:endParaRPr lang="en-IN" sz="1600" dirty="0"/>
          </a:p>
          <a:p>
            <a:pPr>
              <a:lnSpc>
                <a:spcPct val="150000"/>
              </a:lnSpc>
            </a:pPr>
            <a:endParaRPr lang="en-IN" sz="1600" dirty="0"/>
          </a:p>
          <a:p>
            <a:pPr>
              <a:lnSpc>
                <a:spcPct val="150000"/>
              </a:lnSpc>
            </a:pPr>
            <a:endParaRPr lang="en-IN" sz="1600" dirty="0"/>
          </a:p>
          <a:p>
            <a:pPr>
              <a:lnSpc>
                <a:spcPct val="150000"/>
              </a:lnSpc>
            </a:pPr>
            <a:endParaRPr lang="en-IN" sz="1600" dirty="0"/>
          </a:p>
          <a:p>
            <a:pPr>
              <a:lnSpc>
                <a:spcPct val="150000"/>
              </a:lnSpc>
            </a:pPr>
            <a:r>
              <a:rPr lang="en-US" sz="1600" dirty="0">
                <a:latin typeface="Arial" panose="020B0604020202020204" pitchFamily="34" charset="0"/>
                <a:cs typeface="Arial" panose="020B0604020202020204" pitchFamily="34" charset="0"/>
              </a:rPr>
              <a:t>Out of </a:t>
            </a:r>
            <a:r>
              <a:rPr lang="en-US" sz="1600" b="1" dirty="0">
                <a:latin typeface="Arial" panose="020B0604020202020204" pitchFamily="34" charset="0"/>
                <a:cs typeface="Arial" panose="020B0604020202020204" pitchFamily="34" charset="0"/>
              </a:rPr>
              <a:t>6,362,620 total transactions</a:t>
            </a:r>
            <a:r>
              <a:rPr lang="en-US" sz="1600" dirty="0">
                <a:latin typeface="Arial" panose="020B0604020202020204" pitchFamily="34" charset="0"/>
                <a:cs typeface="Arial" panose="020B0604020202020204" pitchFamily="34" charset="0"/>
              </a:rPr>
              <a:t>, only </a:t>
            </a:r>
            <a:r>
              <a:rPr lang="en-US" sz="1600" b="1" dirty="0">
                <a:latin typeface="Arial" panose="020B0604020202020204" pitchFamily="34" charset="0"/>
                <a:cs typeface="Arial" panose="020B0604020202020204" pitchFamily="34" charset="0"/>
              </a:rPr>
              <a:t>8,213 (0.13%)</a:t>
            </a:r>
            <a:r>
              <a:rPr lang="en-US" sz="1600" dirty="0">
                <a:latin typeface="Arial" panose="020B0604020202020204" pitchFamily="34" charset="0"/>
                <a:cs typeface="Arial" panose="020B0604020202020204" pitchFamily="34" charset="0"/>
              </a:rPr>
              <a:t> are fraudulent. This highlights a </a:t>
            </a:r>
            <a:r>
              <a:rPr lang="en-US" sz="1600" b="1" dirty="0">
                <a:latin typeface="Arial" panose="020B0604020202020204" pitchFamily="34" charset="0"/>
                <a:cs typeface="Arial" panose="020B0604020202020204" pitchFamily="34" charset="0"/>
              </a:rPr>
              <a:t>significant class imbalance</a:t>
            </a:r>
            <a:r>
              <a:rPr lang="en-US" sz="1600" dirty="0">
                <a:latin typeface="Arial" panose="020B0604020202020204" pitchFamily="34" charset="0"/>
                <a:cs typeface="Arial" panose="020B0604020202020204" pitchFamily="34" charset="0"/>
              </a:rPr>
              <a:t>, common in fraud detection tasks.</a:t>
            </a:r>
            <a:endParaRPr lang="en-IN" sz="1600" dirty="0">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9D3729A8-E7C9-697F-C12F-F5DCC254F069}"/>
              </a:ext>
            </a:extLst>
          </p:cNvPr>
          <p:cNvSpPr>
            <a:spLocks noGrp="1"/>
          </p:cNvSpPr>
          <p:nvPr>
            <p:ph type="title" idx="4294967295"/>
          </p:nvPr>
        </p:nvSpPr>
        <p:spPr>
          <a:xfrm>
            <a:off x="0" y="365125"/>
            <a:ext cx="10515600" cy="1325563"/>
          </a:xfrm>
        </p:spPr>
        <p:txBody>
          <a:bodyPr>
            <a:normAutofit/>
          </a:bodyPr>
          <a:lstStyle/>
          <a:p>
            <a:pPr>
              <a:lnSpc>
                <a:spcPct val="150000"/>
              </a:lnSpc>
            </a:pPr>
            <a:r>
              <a:rPr lang="en-IN" sz="2000" b="1" dirty="0"/>
              <a:t>       Summary Statistics</a:t>
            </a:r>
            <a:br>
              <a:rPr lang="en-IN" sz="2000" b="1" dirty="0"/>
            </a:br>
            <a:endParaRPr lang="en-IN" sz="2000" dirty="0"/>
          </a:p>
        </p:txBody>
      </p:sp>
      <p:pic>
        <p:nvPicPr>
          <p:cNvPr id="5" name="Picture 4">
            <a:extLst>
              <a:ext uri="{FF2B5EF4-FFF2-40B4-BE49-F238E27FC236}">
                <a16:creationId xmlns:a16="http://schemas.microsoft.com/office/drawing/2014/main" id="{C96DCB28-DF76-7EDD-4A84-530FF859AE65}"/>
              </a:ext>
            </a:extLst>
          </p:cNvPr>
          <p:cNvPicPr>
            <a:picLocks noChangeAspect="1"/>
          </p:cNvPicPr>
          <p:nvPr/>
        </p:nvPicPr>
        <p:blipFill>
          <a:blip r:embed="rId2"/>
          <a:stretch>
            <a:fillRect/>
          </a:stretch>
        </p:blipFill>
        <p:spPr>
          <a:xfrm>
            <a:off x="1161001" y="2755812"/>
            <a:ext cx="9346578" cy="1378459"/>
          </a:xfrm>
          <a:prstGeom prst="rect">
            <a:avLst/>
          </a:prstGeom>
        </p:spPr>
      </p:pic>
    </p:spTree>
    <p:extLst>
      <p:ext uri="{BB962C8B-B14F-4D97-AF65-F5344CB8AC3E}">
        <p14:creationId xmlns:p14="http://schemas.microsoft.com/office/powerpoint/2010/main" val="5911961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B19A21-109B-02F1-ABB9-F9C719F9BC0A}"/>
              </a:ext>
            </a:extLst>
          </p:cNvPr>
          <p:cNvSpPr>
            <a:spLocks noGrp="1"/>
          </p:cNvSpPr>
          <p:nvPr>
            <p:ph idx="1"/>
          </p:nvPr>
        </p:nvSpPr>
        <p:spPr>
          <a:xfrm>
            <a:off x="798575" y="1141941"/>
            <a:ext cx="11235267" cy="5350933"/>
          </a:xfrm>
        </p:spPr>
        <p:txBody>
          <a:bodyPr>
            <a:noAutofit/>
          </a:bodyPr>
          <a:lstStyle/>
          <a:p>
            <a:pPr>
              <a:lnSpc>
                <a:spcPct val="150000"/>
              </a:lnSpc>
            </a:pPr>
            <a:r>
              <a:rPr lang="en-US" sz="1600" b="1" dirty="0"/>
              <a:t> What is the distribution of transaction types?</a:t>
            </a:r>
            <a:endParaRPr lang="en-US" sz="1600" dirty="0"/>
          </a:p>
          <a:p>
            <a:pPr>
              <a:lnSpc>
                <a:spcPct val="150000"/>
              </a:lnSpc>
            </a:pPr>
            <a:endParaRPr lang="en-IN" sz="1600" dirty="0"/>
          </a:p>
          <a:p>
            <a:pPr>
              <a:lnSpc>
                <a:spcPct val="150000"/>
              </a:lnSpc>
            </a:pPr>
            <a:endParaRPr lang="en-IN" sz="1600" dirty="0"/>
          </a:p>
          <a:p>
            <a:pPr>
              <a:lnSpc>
                <a:spcPct val="150000"/>
              </a:lnSpc>
            </a:pPr>
            <a:endParaRPr lang="en-IN" sz="1600" dirty="0"/>
          </a:p>
          <a:p>
            <a:pPr>
              <a:lnSpc>
                <a:spcPct val="150000"/>
              </a:lnSpc>
            </a:pPr>
            <a:endParaRPr lang="en-IN" sz="1600" dirty="0"/>
          </a:p>
          <a:p>
            <a:pPr>
              <a:lnSpc>
                <a:spcPct val="150000"/>
              </a:lnSpc>
              <a:buNone/>
            </a:pPr>
            <a:r>
              <a:rPr lang="en-US" sz="1600" dirty="0">
                <a:latin typeface="Arial" panose="020B0604020202020204" pitchFamily="34" charset="0"/>
                <a:cs typeface="Arial" panose="020B0604020202020204" pitchFamily="34" charset="0"/>
              </a:rPr>
              <a:t>The most common transaction types are:</a:t>
            </a:r>
          </a:p>
          <a:p>
            <a:pPr>
              <a:lnSpc>
                <a:spcPct val="150000"/>
              </a:lnSpc>
              <a:buFont typeface="Arial" panose="020B0604020202020204" pitchFamily="34" charset="0"/>
              <a:buChar char="•"/>
            </a:pPr>
            <a:r>
              <a:rPr lang="en-US" sz="1600" b="1" dirty="0">
                <a:latin typeface="Arial" panose="020B0604020202020204" pitchFamily="34" charset="0"/>
                <a:cs typeface="Arial" panose="020B0604020202020204" pitchFamily="34" charset="0"/>
              </a:rPr>
              <a:t>CASH_OUT (2.24M)</a:t>
            </a:r>
            <a:endParaRPr lang="en-US" sz="1600" dirty="0">
              <a:latin typeface="Arial" panose="020B0604020202020204" pitchFamily="34" charset="0"/>
              <a:cs typeface="Arial" panose="020B0604020202020204" pitchFamily="34" charset="0"/>
            </a:endParaRPr>
          </a:p>
          <a:p>
            <a:pPr>
              <a:lnSpc>
                <a:spcPct val="150000"/>
              </a:lnSpc>
              <a:buFont typeface="Arial" panose="020B0604020202020204" pitchFamily="34" charset="0"/>
              <a:buChar char="•"/>
            </a:pPr>
            <a:r>
              <a:rPr lang="en-US" sz="1600" b="1" dirty="0">
                <a:latin typeface="Arial" panose="020B0604020202020204" pitchFamily="34" charset="0"/>
                <a:cs typeface="Arial" panose="020B0604020202020204" pitchFamily="34" charset="0"/>
              </a:rPr>
              <a:t>PAYMENT (2.15M)</a:t>
            </a:r>
            <a:endParaRPr lang="en-US" sz="1600" dirty="0">
              <a:latin typeface="Arial" panose="020B0604020202020204" pitchFamily="34" charset="0"/>
              <a:cs typeface="Arial" panose="020B0604020202020204" pitchFamily="34" charset="0"/>
            </a:endParaRPr>
          </a:p>
          <a:p>
            <a:pPr>
              <a:lnSpc>
                <a:spcPct val="150000"/>
              </a:lnSpc>
              <a:buFont typeface="Arial" panose="020B0604020202020204" pitchFamily="34" charset="0"/>
              <a:buChar char="•"/>
            </a:pPr>
            <a:r>
              <a:rPr lang="en-US" sz="1600" b="1" dirty="0">
                <a:latin typeface="Arial" panose="020B0604020202020204" pitchFamily="34" charset="0"/>
                <a:cs typeface="Arial" panose="020B0604020202020204" pitchFamily="34" charset="0"/>
              </a:rPr>
              <a:t>CASH_IN (1.39M)</a:t>
            </a:r>
            <a:endParaRPr lang="en-US" sz="1600" dirty="0">
              <a:latin typeface="Arial" panose="020B0604020202020204" pitchFamily="34" charset="0"/>
              <a:cs typeface="Arial" panose="020B0604020202020204" pitchFamily="34" charset="0"/>
            </a:endParaRPr>
          </a:p>
          <a:p>
            <a:pPr>
              <a:lnSpc>
                <a:spcPct val="150000"/>
              </a:lnSpc>
              <a:buFont typeface="Arial" panose="020B0604020202020204" pitchFamily="34" charset="0"/>
              <a:buChar char="•"/>
            </a:pPr>
            <a:r>
              <a:rPr lang="en-US" sz="1600" b="1" dirty="0">
                <a:latin typeface="Arial" panose="020B0604020202020204" pitchFamily="34" charset="0"/>
                <a:cs typeface="Arial" panose="020B0604020202020204" pitchFamily="34" charset="0"/>
              </a:rPr>
              <a:t>TRANSFER (532.9K)</a:t>
            </a:r>
            <a:endParaRPr lang="en-US" sz="1600" dirty="0">
              <a:latin typeface="Arial" panose="020B0604020202020204" pitchFamily="34" charset="0"/>
              <a:cs typeface="Arial" panose="020B0604020202020204" pitchFamily="34" charset="0"/>
            </a:endParaRPr>
          </a:p>
          <a:p>
            <a:pPr>
              <a:lnSpc>
                <a:spcPct val="150000"/>
              </a:lnSpc>
              <a:buFont typeface="Arial" panose="020B0604020202020204" pitchFamily="34" charset="0"/>
              <a:buChar char="•"/>
            </a:pPr>
            <a:r>
              <a:rPr lang="en-US" sz="1600" b="1" dirty="0">
                <a:latin typeface="Arial" panose="020B0604020202020204" pitchFamily="34" charset="0"/>
                <a:cs typeface="Arial" panose="020B0604020202020204" pitchFamily="34" charset="0"/>
              </a:rPr>
              <a:t>DEBIT (41.4K)</a:t>
            </a:r>
            <a:br>
              <a:rPr lang="en-US" sz="1600" dirty="0">
                <a:latin typeface="Arial" panose="020B0604020202020204" pitchFamily="34" charset="0"/>
                <a:cs typeface="Arial" panose="020B0604020202020204" pitchFamily="34" charset="0"/>
              </a:rPr>
            </a:br>
            <a:endParaRPr lang="en-US" sz="1600" dirty="0">
              <a:latin typeface="Arial" panose="020B0604020202020204" pitchFamily="34" charset="0"/>
              <a:cs typeface="Arial" panose="020B0604020202020204" pitchFamily="34" charset="0"/>
            </a:endParaRPr>
          </a:p>
          <a:p>
            <a:pPr marL="0" indent="0">
              <a:lnSpc>
                <a:spcPct val="150000"/>
              </a:lnSpc>
              <a:buNone/>
            </a:pPr>
            <a:r>
              <a:rPr lang="en-US" sz="1600" dirty="0">
                <a:latin typeface="Arial" panose="020B0604020202020204" pitchFamily="34" charset="0"/>
                <a:cs typeface="Arial" panose="020B0604020202020204" pitchFamily="34" charset="0"/>
              </a:rPr>
              <a:t>This shows that </a:t>
            </a:r>
            <a:r>
              <a:rPr lang="en-US" sz="1600" b="1" dirty="0">
                <a:latin typeface="Arial" panose="020B0604020202020204" pitchFamily="34" charset="0"/>
                <a:cs typeface="Arial" panose="020B0604020202020204" pitchFamily="34" charset="0"/>
              </a:rPr>
              <a:t>CASH_OUT</a:t>
            </a:r>
            <a:r>
              <a:rPr lang="en-US" sz="1600" dirty="0">
                <a:latin typeface="Arial" panose="020B0604020202020204" pitchFamily="34" charset="0"/>
                <a:cs typeface="Arial" panose="020B0604020202020204" pitchFamily="34" charset="0"/>
              </a:rPr>
              <a:t> and </a:t>
            </a:r>
            <a:r>
              <a:rPr lang="en-US" sz="1600" b="1" dirty="0">
                <a:latin typeface="Arial" panose="020B0604020202020204" pitchFamily="34" charset="0"/>
                <a:cs typeface="Arial" panose="020B0604020202020204" pitchFamily="34" charset="0"/>
              </a:rPr>
              <a:t>PAYMENT</a:t>
            </a:r>
            <a:r>
              <a:rPr lang="en-US" sz="1600" dirty="0">
                <a:latin typeface="Arial" panose="020B0604020202020204" pitchFamily="34" charset="0"/>
                <a:cs typeface="Arial" panose="020B0604020202020204" pitchFamily="34" charset="0"/>
              </a:rPr>
              <a:t> dominate the dataset.</a:t>
            </a:r>
          </a:p>
          <a:p>
            <a:pPr>
              <a:lnSpc>
                <a:spcPct val="150000"/>
              </a:lnSpc>
            </a:pPr>
            <a:endParaRPr lang="en-IN" sz="1600" dirty="0"/>
          </a:p>
        </p:txBody>
      </p:sp>
      <p:sp>
        <p:nvSpPr>
          <p:cNvPr id="2" name="Title 1">
            <a:extLst>
              <a:ext uri="{FF2B5EF4-FFF2-40B4-BE49-F238E27FC236}">
                <a16:creationId xmlns:a16="http://schemas.microsoft.com/office/drawing/2014/main" id="{07BC8190-7BCC-2B41-2589-6ACB7B159D8C}"/>
              </a:ext>
            </a:extLst>
          </p:cNvPr>
          <p:cNvSpPr>
            <a:spLocks noGrp="1"/>
          </p:cNvSpPr>
          <p:nvPr>
            <p:ph type="title" idx="4294967295"/>
          </p:nvPr>
        </p:nvSpPr>
        <p:spPr>
          <a:xfrm>
            <a:off x="0" y="365125"/>
            <a:ext cx="10515600" cy="640715"/>
          </a:xfrm>
        </p:spPr>
        <p:txBody>
          <a:bodyPr>
            <a:noAutofit/>
          </a:bodyPr>
          <a:lstStyle/>
          <a:p>
            <a:pPr>
              <a:lnSpc>
                <a:spcPct val="150000"/>
              </a:lnSpc>
            </a:pPr>
            <a:r>
              <a:rPr lang="en-IN" sz="2000" b="1" dirty="0"/>
              <a:t>     Transaction Types</a:t>
            </a:r>
            <a:br>
              <a:rPr lang="en-IN" sz="2000" b="1" dirty="0"/>
            </a:br>
            <a:endParaRPr lang="en-IN" sz="2000" dirty="0"/>
          </a:p>
        </p:txBody>
      </p:sp>
      <p:pic>
        <p:nvPicPr>
          <p:cNvPr id="5" name="Picture 4">
            <a:extLst>
              <a:ext uri="{FF2B5EF4-FFF2-40B4-BE49-F238E27FC236}">
                <a16:creationId xmlns:a16="http://schemas.microsoft.com/office/drawing/2014/main" id="{E6FF111B-1870-DAE8-D3D5-B8C81A9A7796}"/>
              </a:ext>
            </a:extLst>
          </p:cNvPr>
          <p:cNvPicPr>
            <a:picLocks noChangeAspect="1"/>
          </p:cNvPicPr>
          <p:nvPr/>
        </p:nvPicPr>
        <p:blipFill>
          <a:blip r:embed="rId2"/>
          <a:stretch>
            <a:fillRect/>
          </a:stretch>
        </p:blipFill>
        <p:spPr>
          <a:xfrm>
            <a:off x="2625559" y="1998483"/>
            <a:ext cx="5454316" cy="1352739"/>
          </a:xfrm>
          <a:prstGeom prst="rect">
            <a:avLst/>
          </a:prstGeom>
        </p:spPr>
      </p:pic>
    </p:spTree>
    <p:extLst>
      <p:ext uri="{BB962C8B-B14F-4D97-AF65-F5344CB8AC3E}">
        <p14:creationId xmlns:p14="http://schemas.microsoft.com/office/powerpoint/2010/main" val="6021206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754CDE-F8E9-4F64-0B1F-7338C9A88EA4}"/>
              </a:ext>
            </a:extLst>
          </p:cNvPr>
          <p:cNvSpPr>
            <a:spLocks noGrp="1"/>
          </p:cNvSpPr>
          <p:nvPr>
            <p:ph idx="1"/>
          </p:nvPr>
        </p:nvSpPr>
        <p:spPr>
          <a:xfrm>
            <a:off x="838200" y="1251284"/>
            <a:ext cx="10515600" cy="5945383"/>
          </a:xfrm>
        </p:spPr>
        <p:txBody>
          <a:bodyPr>
            <a:normAutofit/>
          </a:bodyPr>
          <a:lstStyle/>
          <a:p>
            <a:pPr>
              <a:lnSpc>
                <a:spcPct val="150000"/>
              </a:lnSpc>
            </a:pPr>
            <a:r>
              <a:rPr lang="en-US" sz="1600" b="1" dirty="0"/>
              <a:t> What are the top 5 most frequent fraud transaction types?</a:t>
            </a:r>
            <a:endParaRPr lang="en-US" sz="1600" dirty="0"/>
          </a:p>
          <a:p>
            <a:pPr>
              <a:lnSpc>
                <a:spcPct val="150000"/>
              </a:lnSpc>
            </a:pPr>
            <a:endParaRPr lang="en-IN" sz="1600" dirty="0"/>
          </a:p>
          <a:p>
            <a:pPr>
              <a:lnSpc>
                <a:spcPct val="150000"/>
              </a:lnSpc>
            </a:pPr>
            <a:endParaRPr lang="en-IN" sz="1600" dirty="0"/>
          </a:p>
          <a:p>
            <a:pPr>
              <a:lnSpc>
                <a:spcPct val="150000"/>
              </a:lnSpc>
            </a:pPr>
            <a:endParaRPr lang="en-IN" sz="1600" dirty="0"/>
          </a:p>
          <a:p>
            <a:pPr>
              <a:lnSpc>
                <a:spcPct val="150000"/>
              </a:lnSpc>
            </a:pPr>
            <a:endParaRPr lang="en-IN" sz="1600" dirty="0"/>
          </a:p>
          <a:p>
            <a:pPr>
              <a:lnSpc>
                <a:spcPct val="150000"/>
              </a:lnSpc>
            </a:pPr>
            <a:endParaRPr lang="en-IN" sz="1600" dirty="0"/>
          </a:p>
          <a:p>
            <a:pPr>
              <a:lnSpc>
                <a:spcPct val="150000"/>
              </a:lnSpc>
              <a:buNone/>
            </a:pPr>
            <a:r>
              <a:rPr lang="en-US" sz="1600" dirty="0">
                <a:latin typeface="Arial" panose="020B0604020202020204" pitchFamily="34" charset="0"/>
                <a:cs typeface="Arial" panose="020B0604020202020204" pitchFamily="34" charset="0"/>
              </a:rPr>
              <a:t>Frauds occur </a:t>
            </a:r>
            <a:r>
              <a:rPr lang="en-US" sz="1600" b="1" dirty="0">
                <a:latin typeface="Arial" panose="020B0604020202020204" pitchFamily="34" charset="0"/>
                <a:cs typeface="Arial" panose="020B0604020202020204" pitchFamily="34" charset="0"/>
              </a:rPr>
              <a:t>almost exclusively in two transaction types</a:t>
            </a:r>
            <a:r>
              <a:rPr lang="en-US" sz="1600" dirty="0">
                <a:latin typeface="Arial" panose="020B0604020202020204" pitchFamily="34" charset="0"/>
                <a:cs typeface="Arial" panose="020B0604020202020204" pitchFamily="34" charset="0"/>
              </a:rPr>
              <a:t>:</a:t>
            </a:r>
          </a:p>
          <a:p>
            <a:pPr>
              <a:lnSpc>
                <a:spcPct val="150000"/>
              </a:lnSpc>
              <a:buFont typeface="Arial" panose="020B0604020202020204" pitchFamily="34" charset="0"/>
              <a:buChar char="•"/>
            </a:pPr>
            <a:r>
              <a:rPr lang="en-US" sz="1600" b="1" dirty="0">
                <a:latin typeface="Arial" panose="020B0604020202020204" pitchFamily="34" charset="0"/>
                <a:cs typeface="Arial" panose="020B0604020202020204" pitchFamily="34" charset="0"/>
              </a:rPr>
              <a:t>CASH_OUT</a:t>
            </a:r>
            <a:r>
              <a:rPr lang="en-US" sz="1600" dirty="0">
                <a:latin typeface="Arial" panose="020B0604020202020204" pitchFamily="34" charset="0"/>
                <a:cs typeface="Arial" panose="020B0604020202020204" pitchFamily="34" charset="0"/>
              </a:rPr>
              <a:t> with </a:t>
            </a:r>
            <a:r>
              <a:rPr lang="en-US" sz="1600" b="1" dirty="0">
                <a:latin typeface="Arial" panose="020B0604020202020204" pitchFamily="34" charset="0"/>
                <a:cs typeface="Arial" panose="020B0604020202020204" pitchFamily="34" charset="0"/>
              </a:rPr>
              <a:t>4,116 frauds</a:t>
            </a:r>
            <a:endParaRPr lang="en-US" sz="1600" dirty="0">
              <a:latin typeface="Arial" panose="020B0604020202020204" pitchFamily="34" charset="0"/>
              <a:cs typeface="Arial" panose="020B0604020202020204" pitchFamily="34" charset="0"/>
            </a:endParaRPr>
          </a:p>
          <a:p>
            <a:pPr>
              <a:lnSpc>
                <a:spcPct val="150000"/>
              </a:lnSpc>
              <a:buFont typeface="Arial" panose="020B0604020202020204" pitchFamily="34" charset="0"/>
              <a:buChar char="•"/>
            </a:pPr>
            <a:r>
              <a:rPr lang="en-US" sz="1600" b="1" dirty="0">
                <a:latin typeface="Arial" panose="020B0604020202020204" pitchFamily="34" charset="0"/>
                <a:cs typeface="Arial" panose="020B0604020202020204" pitchFamily="34" charset="0"/>
              </a:rPr>
              <a:t>TRANSFER</a:t>
            </a:r>
            <a:r>
              <a:rPr lang="en-US" sz="1600" dirty="0">
                <a:latin typeface="Arial" panose="020B0604020202020204" pitchFamily="34" charset="0"/>
                <a:cs typeface="Arial" panose="020B0604020202020204" pitchFamily="34" charset="0"/>
              </a:rPr>
              <a:t> with </a:t>
            </a:r>
            <a:r>
              <a:rPr lang="en-US" sz="1600" b="1" dirty="0">
                <a:latin typeface="Arial" panose="020B0604020202020204" pitchFamily="34" charset="0"/>
                <a:cs typeface="Arial" panose="020B0604020202020204" pitchFamily="34" charset="0"/>
              </a:rPr>
              <a:t>4,097 frauds</a:t>
            </a:r>
            <a:br>
              <a:rPr lang="en-US" sz="1600" dirty="0">
                <a:latin typeface="Arial" panose="020B0604020202020204" pitchFamily="34" charset="0"/>
                <a:cs typeface="Arial" panose="020B0604020202020204" pitchFamily="34" charset="0"/>
              </a:rPr>
            </a:br>
            <a:r>
              <a:rPr lang="en-US" sz="1600" dirty="0">
                <a:latin typeface="Arial" panose="020B0604020202020204" pitchFamily="34" charset="0"/>
                <a:cs typeface="Arial" panose="020B0604020202020204" pitchFamily="34" charset="0"/>
              </a:rPr>
              <a:t>Other transaction types show </a:t>
            </a:r>
            <a:r>
              <a:rPr lang="en-US" sz="1600" b="1" dirty="0">
                <a:latin typeface="Arial" panose="020B0604020202020204" pitchFamily="34" charset="0"/>
                <a:cs typeface="Arial" panose="020B0604020202020204" pitchFamily="34" charset="0"/>
              </a:rPr>
              <a:t>negligible or no fraud activity</a:t>
            </a:r>
            <a:r>
              <a:rPr lang="en-US" sz="1600" dirty="0">
                <a:latin typeface="Arial" panose="020B0604020202020204" pitchFamily="34" charset="0"/>
                <a:cs typeface="Arial" panose="020B0604020202020204" pitchFamily="34" charset="0"/>
              </a:rPr>
              <a:t>.</a:t>
            </a:r>
          </a:p>
          <a:p>
            <a:pPr marL="0" indent="0">
              <a:lnSpc>
                <a:spcPct val="150000"/>
              </a:lnSpc>
              <a:buNone/>
            </a:pPr>
            <a:endParaRPr lang="en-IN" sz="1600" dirty="0">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F633E302-7C1C-63BB-E349-D317821CBC77}"/>
              </a:ext>
            </a:extLst>
          </p:cNvPr>
          <p:cNvSpPr>
            <a:spLocks noGrp="1"/>
          </p:cNvSpPr>
          <p:nvPr>
            <p:ph type="title" idx="4294967295"/>
          </p:nvPr>
        </p:nvSpPr>
        <p:spPr>
          <a:xfrm>
            <a:off x="0" y="365125"/>
            <a:ext cx="10515600" cy="1030288"/>
          </a:xfrm>
        </p:spPr>
        <p:txBody>
          <a:bodyPr>
            <a:normAutofit/>
          </a:bodyPr>
          <a:lstStyle/>
          <a:p>
            <a:pPr>
              <a:lnSpc>
                <a:spcPct val="150000"/>
              </a:lnSpc>
            </a:pPr>
            <a:r>
              <a:rPr lang="en-IN" sz="2000" b="1" dirty="0"/>
              <a:t>     Fraud Types</a:t>
            </a:r>
            <a:br>
              <a:rPr lang="en-IN" sz="2000" b="1" dirty="0"/>
            </a:br>
            <a:endParaRPr lang="en-IN" sz="2000" dirty="0"/>
          </a:p>
        </p:txBody>
      </p:sp>
      <p:pic>
        <p:nvPicPr>
          <p:cNvPr id="5" name="Picture 4">
            <a:extLst>
              <a:ext uri="{FF2B5EF4-FFF2-40B4-BE49-F238E27FC236}">
                <a16:creationId xmlns:a16="http://schemas.microsoft.com/office/drawing/2014/main" id="{0B0D3920-AD55-95E2-F508-043F3C0DA749}"/>
              </a:ext>
            </a:extLst>
          </p:cNvPr>
          <p:cNvPicPr>
            <a:picLocks noChangeAspect="1"/>
          </p:cNvPicPr>
          <p:nvPr/>
        </p:nvPicPr>
        <p:blipFill>
          <a:blip r:embed="rId2"/>
          <a:stretch>
            <a:fillRect/>
          </a:stretch>
        </p:blipFill>
        <p:spPr>
          <a:xfrm>
            <a:off x="1806520" y="2023942"/>
            <a:ext cx="6940551" cy="1762371"/>
          </a:xfrm>
          <a:prstGeom prst="rect">
            <a:avLst/>
          </a:prstGeom>
        </p:spPr>
      </p:pic>
    </p:spTree>
    <p:extLst>
      <p:ext uri="{BB962C8B-B14F-4D97-AF65-F5344CB8AC3E}">
        <p14:creationId xmlns:p14="http://schemas.microsoft.com/office/powerpoint/2010/main" val="23264006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B4EB861-C7E9-9B09-4867-CD914A62DCDB}"/>
              </a:ext>
            </a:extLst>
          </p:cNvPr>
          <p:cNvSpPr>
            <a:spLocks noGrp="1"/>
          </p:cNvSpPr>
          <p:nvPr>
            <p:ph idx="1"/>
          </p:nvPr>
        </p:nvSpPr>
        <p:spPr>
          <a:xfrm>
            <a:off x="270933" y="1459832"/>
            <a:ext cx="11082867" cy="4890167"/>
          </a:xfrm>
        </p:spPr>
        <p:txBody>
          <a:bodyPr/>
          <a:lstStyle/>
          <a:p>
            <a:pPr>
              <a:lnSpc>
                <a:spcPct val="150000"/>
              </a:lnSpc>
            </a:pPr>
            <a:r>
              <a:rPr lang="en-US" sz="1600" b="1" dirty="0"/>
              <a:t>What is the average transaction amount for fraud vs. non-fraud?</a:t>
            </a:r>
            <a:endParaRPr lang="en-US" sz="1600" dirty="0"/>
          </a:p>
          <a:p>
            <a:pPr>
              <a:lnSpc>
                <a:spcPct val="150000"/>
              </a:lnSpc>
            </a:pPr>
            <a:endParaRPr lang="en-IN" sz="1600" dirty="0"/>
          </a:p>
          <a:p>
            <a:pPr>
              <a:lnSpc>
                <a:spcPct val="150000"/>
              </a:lnSpc>
            </a:pPr>
            <a:endParaRPr lang="en-IN" sz="1600" dirty="0"/>
          </a:p>
          <a:p>
            <a:pPr>
              <a:lnSpc>
                <a:spcPct val="150000"/>
              </a:lnSpc>
            </a:pPr>
            <a:endParaRPr lang="en-IN" sz="1600" dirty="0"/>
          </a:p>
          <a:p>
            <a:pPr>
              <a:lnSpc>
                <a:spcPct val="150000"/>
              </a:lnSpc>
            </a:pPr>
            <a:endParaRPr lang="en-IN" sz="1600" b="1" dirty="0"/>
          </a:p>
          <a:p>
            <a:pPr>
              <a:lnSpc>
                <a:spcPct val="150000"/>
              </a:lnSpc>
            </a:pPr>
            <a:r>
              <a:rPr lang="en-IN" sz="1600" b="1" dirty="0">
                <a:latin typeface="Arial" panose="020B0604020202020204" pitchFamily="34" charset="0"/>
                <a:cs typeface="Arial" panose="020B0604020202020204" pitchFamily="34" charset="0"/>
              </a:rPr>
              <a:t>Fraudulent transactions average:</a:t>
            </a:r>
            <a:r>
              <a:rPr lang="en-IN" sz="1600" dirty="0">
                <a:latin typeface="Arial" panose="020B0604020202020204" pitchFamily="34" charset="0"/>
                <a:cs typeface="Arial" panose="020B0604020202020204" pitchFamily="34" charset="0"/>
              </a:rPr>
              <a:t> ₹</a:t>
            </a:r>
            <a:r>
              <a:rPr lang="en-IN" sz="1600" b="1" dirty="0">
                <a:latin typeface="Arial" panose="020B0604020202020204" pitchFamily="34" charset="0"/>
                <a:cs typeface="Arial" panose="020B0604020202020204" pitchFamily="34" charset="0"/>
              </a:rPr>
              <a:t>1,467,967.30</a:t>
            </a:r>
          </a:p>
          <a:p>
            <a:pPr>
              <a:lnSpc>
                <a:spcPct val="150000"/>
              </a:lnSpc>
            </a:pPr>
            <a:r>
              <a:rPr lang="en-IN" sz="1600" b="1" dirty="0">
                <a:latin typeface="Arial" panose="020B0604020202020204" pitchFamily="34" charset="0"/>
                <a:cs typeface="Arial" panose="020B0604020202020204" pitchFamily="34" charset="0"/>
              </a:rPr>
              <a:t>Non-fraudulent transactions average:</a:t>
            </a:r>
            <a:r>
              <a:rPr lang="en-IN" sz="1600" dirty="0">
                <a:latin typeface="Arial" panose="020B0604020202020204" pitchFamily="34" charset="0"/>
                <a:cs typeface="Arial" panose="020B0604020202020204" pitchFamily="34" charset="0"/>
              </a:rPr>
              <a:t> ₹</a:t>
            </a:r>
            <a:r>
              <a:rPr lang="en-IN" sz="1600" b="1" dirty="0">
                <a:latin typeface="Arial" panose="020B0604020202020204" pitchFamily="34" charset="0"/>
                <a:cs typeface="Arial" panose="020B0604020202020204" pitchFamily="34" charset="0"/>
              </a:rPr>
              <a:t>178,197.04</a:t>
            </a:r>
          </a:p>
          <a:p>
            <a:pPr>
              <a:lnSpc>
                <a:spcPct val="150000"/>
              </a:lnSpc>
            </a:pPr>
            <a:r>
              <a:rPr lang="en-US" sz="1600" dirty="0">
                <a:latin typeface="Arial" panose="020B0604020202020204" pitchFamily="34" charset="0"/>
                <a:cs typeface="Arial" panose="020B0604020202020204" pitchFamily="34" charset="0"/>
              </a:rPr>
              <a:t>Fraudulent transactions are significantly </a:t>
            </a:r>
            <a:r>
              <a:rPr lang="en-US" sz="1600" b="1" dirty="0">
                <a:latin typeface="Arial" panose="020B0604020202020204" pitchFamily="34" charset="0"/>
                <a:cs typeface="Arial" panose="020B0604020202020204" pitchFamily="34" charset="0"/>
              </a:rPr>
              <a:t>higher in value</a:t>
            </a:r>
            <a:r>
              <a:rPr lang="en-US" sz="1600" dirty="0">
                <a:latin typeface="Arial" panose="020B0604020202020204" pitchFamily="34" charset="0"/>
                <a:cs typeface="Arial" panose="020B0604020202020204" pitchFamily="34" charset="0"/>
              </a:rPr>
              <a:t>, indicating frauds are </a:t>
            </a:r>
            <a:r>
              <a:rPr lang="en-US" sz="1600" b="1" dirty="0">
                <a:latin typeface="Arial" panose="020B0604020202020204" pitchFamily="34" charset="0"/>
                <a:cs typeface="Arial" panose="020B0604020202020204" pitchFamily="34" charset="0"/>
              </a:rPr>
              <a:t>high-stake events</a:t>
            </a:r>
            <a:r>
              <a:rPr lang="en-US" sz="1600" dirty="0">
                <a:latin typeface="Arial" panose="020B0604020202020204" pitchFamily="34" charset="0"/>
                <a:cs typeface="Arial" panose="020B0604020202020204" pitchFamily="34" charset="0"/>
              </a:rPr>
              <a:t>.</a:t>
            </a:r>
            <a:endParaRPr lang="en-IN" sz="1600" dirty="0">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CF70F2F1-967E-2B8C-019B-A0B7C5FC7325}"/>
              </a:ext>
            </a:extLst>
          </p:cNvPr>
          <p:cNvSpPr>
            <a:spLocks noGrp="1"/>
          </p:cNvSpPr>
          <p:nvPr>
            <p:ph type="title"/>
          </p:nvPr>
        </p:nvSpPr>
        <p:spPr>
          <a:xfrm>
            <a:off x="0" y="365125"/>
            <a:ext cx="10515600" cy="1271588"/>
          </a:xfrm>
        </p:spPr>
        <p:txBody>
          <a:bodyPr>
            <a:normAutofit/>
          </a:bodyPr>
          <a:lstStyle/>
          <a:p>
            <a:pPr>
              <a:lnSpc>
                <a:spcPct val="150000"/>
              </a:lnSpc>
            </a:pPr>
            <a:r>
              <a:rPr lang="en-IN" sz="2000" b="1" dirty="0"/>
              <a:t>     </a:t>
            </a:r>
            <a:r>
              <a:rPr lang="en-IN" sz="2000" b="1" dirty="0" err="1"/>
              <a:t>Avg</a:t>
            </a:r>
            <a:r>
              <a:rPr lang="en-IN" sz="2000" b="1" dirty="0"/>
              <a:t> Amount</a:t>
            </a:r>
            <a:br>
              <a:rPr lang="en-IN" sz="2000" b="1" dirty="0"/>
            </a:br>
            <a:endParaRPr lang="en-IN" sz="2000" dirty="0"/>
          </a:p>
        </p:txBody>
      </p:sp>
      <p:pic>
        <p:nvPicPr>
          <p:cNvPr id="5" name="Picture 4">
            <a:extLst>
              <a:ext uri="{FF2B5EF4-FFF2-40B4-BE49-F238E27FC236}">
                <a16:creationId xmlns:a16="http://schemas.microsoft.com/office/drawing/2014/main" id="{D68D1B00-8D9E-2FA2-DF7F-D445CBD6A135}"/>
              </a:ext>
            </a:extLst>
          </p:cNvPr>
          <p:cNvPicPr>
            <a:picLocks noChangeAspect="1"/>
          </p:cNvPicPr>
          <p:nvPr/>
        </p:nvPicPr>
        <p:blipFill>
          <a:blip r:embed="rId3"/>
          <a:stretch>
            <a:fillRect/>
          </a:stretch>
        </p:blipFill>
        <p:spPr>
          <a:xfrm>
            <a:off x="2148414" y="2478461"/>
            <a:ext cx="5506218" cy="1009791"/>
          </a:xfrm>
          <a:prstGeom prst="rect">
            <a:avLst/>
          </a:prstGeom>
        </p:spPr>
      </p:pic>
    </p:spTree>
    <p:extLst>
      <p:ext uri="{BB962C8B-B14F-4D97-AF65-F5344CB8AC3E}">
        <p14:creationId xmlns:p14="http://schemas.microsoft.com/office/powerpoint/2010/main" val="42744022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4E40FFF-F427-BF10-C983-F0AC84685F4F}"/>
              </a:ext>
            </a:extLst>
          </p:cNvPr>
          <p:cNvSpPr>
            <a:spLocks noGrp="1"/>
          </p:cNvSpPr>
          <p:nvPr>
            <p:ph idx="1"/>
          </p:nvPr>
        </p:nvSpPr>
        <p:spPr>
          <a:xfrm>
            <a:off x="838200" y="1539876"/>
            <a:ext cx="10515600" cy="4637088"/>
          </a:xfrm>
        </p:spPr>
        <p:txBody>
          <a:bodyPr/>
          <a:lstStyle/>
          <a:p>
            <a:pPr>
              <a:lnSpc>
                <a:spcPct val="150000"/>
              </a:lnSpc>
            </a:pPr>
            <a:r>
              <a:rPr lang="en-US" sz="1600" b="1" dirty="0"/>
              <a:t> Which accounts initiated the most flagged frauds?</a:t>
            </a:r>
            <a:endParaRPr lang="en-US" sz="1600" dirty="0"/>
          </a:p>
          <a:p>
            <a:pPr>
              <a:lnSpc>
                <a:spcPct val="150000"/>
              </a:lnSpc>
            </a:pPr>
            <a:endParaRPr lang="en-IN" sz="1600" dirty="0"/>
          </a:p>
          <a:p>
            <a:pPr>
              <a:lnSpc>
                <a:spcPct val="150000"/>
              </a:lnSpc>
            </a:pPr>
            <a:endParaRPr lang="en-IN" sz="1600" dirty="0"/>
          </a:p>
          <a:p>
            <a:pPr>
              <a:lnSpc>
                <a:spcPct val="150000"/>
              </a:lnSpc>
            </a:pPr>
            <a:endParaRPr lang="en-IN" sz="1600" dirty="0"/>
          </a:p>
          <a:p>
            <a:pPr>
              <a:lnSpc>
                <a:spcPct val="150000"/>
              </a:lnSpc>
            </a:pPr>
            <a:endParaRPr lang="en-IN" sz="1600" dirty="0"/>
          </a:p>
          <a:p>
            <a:pPr marL="0" indent="0">
              <a:lnSpc>
                <a:spcPct val="150000"/>
              </a:lnSpc>
              <a:buNone/>
            </a:pPr>
            <a:endParaRPr lang="en-IN" sz="1600" dirty="0"/>
          </a:p>
          <a:p>
            <a:pPr>
              <a:lnSpc>
                <a:spcPct val="150000"/>
              </a:lnSpc>
            </a:pPr>
            <a:r>
              <a:rPr lang="en-US" sz="1600" dirty="0"/>
              <a:t>Only </a:t>
            </a:r>
            <a:r>
              <a:rPr lang="en-US" sz="1600" b="1" dirty="0"/>
              <a:t>five accounts</a:t>
            </a:r>
            <a:r>
              <a:rPr lang="en-US" sz="1600" dirty="0"/>
              <a:t> were flagged, each only </a:t>
            </a:r>
            <a:r>
              <a:rPr lang="en-US" sz="1600" b="1" dirty="0"/>
              <a:t>once</a:t>
            </a:r>
            <a:r>
              <a:rPr lang="en-US" sz="1600" dirty="0"/>
              <a:t>. This suggests that </a:t>
            </a:r>
            <a:r>
              <a:rPr lang="en-US" sz="1600" b="1" dirty="0"/>
              <a:t>flagging is rare</a:t>
            </a:r>
            <a:r>
              <a:rPr lang="en-US" sz="1600" dirty="0"/>
              <a:t> or may not always align with actual fraudulent activity.</a:t>
            </a:r>
          </a:p>
        </p:txBody>
      </p:sp>
      <p:sp>
        <p:nvSpPr>
          <p:cNvPr id="2" name="Title 1">
            <a:extLst>
              <a:ext uri="{FF2B5EF4-FFF2-40B4-BE49-F238E27FC236}">
                <a16:creationId xmlns:a16="http://schemas.microsoft.com/office/drawing/2014/main" id="{81B0515E-4035-61D4-8117-C6269D8AF344}"/>
              </a:ext>
            </a:extLst>
          </p:cNvPr>
          <p:cNvSpPr>
            <a:spLocks noGrp="1"/>
          </p:cNvSpPr>
          <p:nvPr>
            <p:ph type="title" idx="4294967295"/>
          </p:nvPr>
        </p:nvSpPr>
        <p:spPr>
          <a:xfrm>
            <a:off x="0" y="365125"/>
            <a:ext cx="10515600" cy="1174750"/>
          </a:xfrm>
        </p:spPr>
        <p:txBody>
          <a:bodyPr>
            <a:normAutofit/>
          </a:bodyPr>
          <a:lstStyle/>
          <a:p>
            <a:pPr>
              <a:lnSpc>
                <a:spcPct val="150000"/>
              </a:lnSpc>
            </a:pPr>
            <a:r>
              <a:rPr lang="en-IN" sz="2000" b="1" dirty="0"/>
              <a:t>     Flagged Accounts</a:t>
            </a:r>
            <a:br>
              <a:rPr lang="en-IN" sz="2000" b="1" dirty="0"/>
            </a:br>
            <a:endParaRPr lang="en-IN" sz="2000" dirty="0"/>
          </a:p>
        </p:txBody>
      </p:sp>
      <p:pic>
        <p:nvPicPr>
          <p:cNvPr id="5" name="Picture 4">
            <a:extLst>
              <a:ext uri="{FF2B5EF4-FFF2-40B4-BE49-F238E27FC236}">
                <a16:creationId xmlns:a16="http://schemas.microsoft.com/office/drawing/2014/main" id="{CF92EA89-AC33-717F-F731-D08FB97B57C1}"/>
              </a:ext>
            </a:extLst>
          </p:cNvPr>
          <p:cNvPicPr>
            <a:picLocks noChangeAspect="1"/>
          </p:cNvPicPr>
          <p:nvPr/>
        </p:nvPicPr>
        <p:blipFill>
          <a:blip r:embed="rId2"/>
          <a:stretch>
            <a:fillRect/>
          </a:stretch>
        </p:blipFill>
        <p:spPr>
          <a:xfrm>
            <a:off x="1130188" y="2572442"/>
            <a:ext cx="7008988" cy="1471863"/>
          </a:xfrm>
          <a:prstGeom prst="rect">
            <a:avLst/>
          </a:prstGeom>
        </p:spPr>
      </p:pic>
    </p:spTree>
    <p:extLst>
      <p:ext uri="{BB962C8B-B14F-4D97-AF65-F5344CB8AC3E}">
        <p14:creationId xmlns:p14="http://schemas.microsoft.com/office/powerpoint/2010/main" val="6983551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3A8DF6-C7F7-AD0F-9B21-EACE6401A687}"/>
              </a:ext>
            </a:extLst>
          </p:cNvPr>
          <p:cNvSpPr>
            <a:spLocks noGrp="1"/>
          </p:cNvSpPr>
          <p:nvPr>
            <p:ph idx="1"/>
          </p:nvPr>
        </p:nvSpPr>
        <p:spPr>
          <a:xfrm>
            <a:off x="838200" y="1508760"/>
            <a:ext cx="10515600" cy="4668203"/>
          </a:xfrm>
        </p:spPr>
        <p:txBody>
          <a:bodyPr>
            <a:normAutofit/>
          </a:bodyPr>
          <a:lstStyle/>
          <a:p>
            <a:pPr>
              <a:lnSpc>
                <a:spcPct val="150000"/>
              </a:lnSpc>
            </a:pPr>
            <a:r>
              <a:rPr lang="en-US" sz="1600" b="1" dirty="0"/>
              <a:t> Which destination accounts received the most transactions?</a:t>
            </a:r>
          </a:p>
          <a:p>
            <a:pPr>
              <a:lnSpc>
                <a:spcPct val="150000"/>
              </a:lnSpc>
            </a:pPr>
            <a:endParaRPr lang="en-US" sz="1600" b="1" dirty="0"/>
          </a:p>
          <a:p>
            <a:pPr>
              <a:lnSpc>
                <a:spcPct val="150000"/>
              </a:lnSpc>
            </a:pPr>
            <a:endParaRPr lang="en-US" sz="1600" b="1" dirty="0"/>
          </a:p>
          <a:p>
            <a:pPr>
              <a:lnSpc>
                <a:spcPct val="150000"/>
              </a:lnSpc>
            </a:pPr>
            <a:endParaRPr lang="en-US" sz="1600" b="1" dirty="0"/>
          </a:p>
          <a:p>
            <a:pPr>
              <a:lnSpc>
                <a:spcPct val="150000"/>
              </a:lnSpc>
            </a:pPr>
            <a:endParaRPr lang="en-US" sz="1600" b="1" dirty="0"/>
          </a:p>
          <a:p>
            <a:pPr>
              <a:lnSpc>
                <a:spcPct val="150000"/>
              </a:lnSpc>
            </a:pPr>
            <a:endParaRPr lang="en-US" sz="1600" dirty="0"/>
          </a:p>
          <a:p>
            <a:pPr>
              <a:lnSpc>
                <a:spcPct val="150000"/>
              </a:lnSpc>
            </a:pPr>
            <a:r>
              <a:rPr lang="en-US" sz="1600" dirty="0"/>
              <a:t>The top destination accounts received </a:t>
            </a:r>
            <a:r>
              <a:rPr lang="en-US" sz="1600" b="1" dirty="0"/>
              <a:t>between 22 and 26 transactions</a:t>
            </a:r>
            <a:r>
              <a:rPr lang="en-US" sz="1600" dirty="0"/>
              <a:t>. These may indicate </a:t>
            </a:r>
            <a:r>
              <a:rPr lang="en-US" sz="1600" b="1" dirty="0"/>
              <a:t>frequent receivers</a:t>
            </a:r>
            <a:r>
              <a:rPr lang="en-US" sz="1600" dirty="0"/>
              <a:t> or potential </a:t>
            </a:r>
            <a:r>
              <a:rPr lang="en-US" sz="1600" b="1" dirty="0"/>
              <a:t>sinks for illicit transfers</a:t>
            </a:r>
            <a:r>
              <a:rPr lang="en-US" sz="1600" dirty="0"/>
              <a:t>.</a:t>
            </a:r>
          </a:p>
          <a:p>
            <a:pPr>
              <a:lnSpc>
                <a:spcPct val="150000"/>
              </a:lnSpc>
            </a:pPr>
            <a:endParaRPr lang="en-US" sz="1600" dirty="0"/>
          </a:p>
          <a:p>
            <a:pPr>
              <a:lnSpc>
                <a:spcPct val="150000"/>
              </a:lnSpc>
            </a:pPr>
            <a:endParaRPr lang="en-IN" sz="1600" dirty="0"/>
          </a:p>
        </p:txBody>
      </p:sp>
      <p:sp>
        <p:nvSpPr>
          <p:cNvPr id="2" name="Title 1">
            <a:extLst>
              <a:ext uri="{FF2B5EF4-FFF2-40B4-BE49-F238E27FC236}">
                <a16:creationId xmlns:a16="http://schemas.microsoft.com/office/drawing/2014/main" id="{BDE45C84-1AFD-12EB-E492-89E2B3CAE046}"/>
              </a:ext>
            </a:extLst>
          </p:cNvPr>
          <p:cNvSpPr>
            <a:spLocks noGrp="1"/>
          </p:cNvSpPr>
          <p:nvPr>
            <p:ph type="title" idx="4294967295"/>
          </p:nvPr>
        </p:nvSpPr>
        <p:spPr>
          <a:xfrm>
            <a:off x="0" y="365125"/>
            <a:ext cx="10515600" cy="1325563"/>
          </a:xfrm>
        </p:spPr>
        <p:txBody>
          <a:bodyPr>
            <a:normAutofit/>
          </a:bodyPr>
          <a:lstStyle/>
          <a:p>
            <a:pPr>
              <a:lnSpc>
                <a:spcPct val="150000"/>
              </a:lnSpc>
            </a:pPr>
            <a:r>
              <a:rPr lang="en-IN" sz="2000" b="1" dirty="0"/>
              <a:t>      Frequent Destinations</a:t>
            </a:r>
            <a:br>
              <a:rPr lang="en-IN" sz="2000" b="1" dirty="0"/>
            </a:br>
            <a:endParaRPr lang="en-IN" sz="2000" dirty="0"/>
          </a:p>
        </p:txBody>
      </p:sp>
      <p:pic>
        <p:nvPicPr>
          <p:cNvPr id="6" name="Picture 5">
            <a:extLst>
              <a:ext uri="{FF2B5EF4-FFF2-40B4-BE49-F238E27FC236}">
                <a16:creationId xmlns:a16="http://schemas.microsoft.com/office/drawing/2014/main" id="{28FF5BC3-4652-7124-2320-F163FA7F4608}"/>
              </a:ext>
            </a:extLst>
          </p:cNvPr>
          <p:cNvPicPr>
            <a:picLocks noChangeAspect="1"/>
          </p:cNvPicPr>
          <p:nvPr/>
        </p:nvPicPr>
        <p:blipFill>
          <a:blip r:embed="rId2"/>
          <a:stretch>
            <a:fillRect/>
          </a:stretch>
        </p:blipFill>
        <p:spPr>
          <a:xfrm>
            <a:off x="2291012" y="2462182"/>
            <a:ext cx="4610743" cy="1581371"/>
          </a:xfrm>
          <a:prstGeom prst="rect">
            <a:avLst/>
          </a:prstGeom>
        </p:spPr>
      </p:pic>
    </p:spTree>
    <p:extLst>
      <p:ext uri="{BB962C8B-B14F-4D97-AF65-F5344CB8AC3E}">
        <p14:creationId xmlns:p14="http://schemas.microsoft.com/office/powerpoint/2010/main" val="18948771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5AE686-7FFE-9A88-4FAF-C619E98C40CB}"/>
              </a:ext>
            </a:extLst>
          </p:cNvPr>
          <p:cNvSpPr>
            <a:spLocks noGrp="1"/>
          </p:cNvSpPr>
          <p:nvPr>
            <p:ph idx="1"/>
          </p:nvPr>
        </p:nvSpPr>
        <p:spPr>
          <a:xfrm>
            <a:off x="838200" y="1389888"/>
            <a:ext cx="10515600" cy="4787075"/>
          </a:xfrm>
        </p:spPr>
        <p:txBody>
          <a:bodyPr>
            <a:normAutofit/>
          </a:bodyPr>
          <a:lstStyle/>
          <a:p>
            <a:pPr>
              <a:lnSpc>
                <a:spcPct val="150000"/>
              </a:lnSpc>
            </a:pPr>
            <a:r>
              <a:rPr lang="en-US" sz="1600" b="1" dirty="0"/>
              <a:t>Which origin accounts sent the most money?</a:t>
            </a:r>
            <a:br>
              <a:rPr lang="en-US" sz="1600" b="1" dirty="0"/>
            </a:br>
            <a:br>
              <a:rPr lang="en-US" sz="1600" b="1" dirty="0"/>
            </a:br>
            <a:endParaRPr lang="en-US" sz="1600" b="1" dirty="0"/>
          </a:p>
          <a:p>
            <a:pPr>
              <a:lnSpc>
                <a:spcPct val="150000"/>
              </a:lnSpc>
            </a:pPr>
            <a:endParaRPr lang="en-US" sz="1600" b="1" dirty="0"/>
          </a:p>
          <a:p>
            <a:pPr>
              <a:lnSpc>
                <a:spcPct val="150000"/>
              </a:lnSpc>
            </a:pPr>
            <a:endParaRPr lang="en-US" sz="1600" b="1" dirty="0"/>
          </a:p>
          <a:p>
            <a:pPr>
              <a:lnSpc>
                <a:spcPct val="150000"/>
              </a:lnSpc>
            </a:pPr>
            <a:endParaRPr lang="en-US" sz="1600" b="1" dirty="0"/>
          </a:p>
          <a:p>
            <a:pPr>
              <a:lnSpc>
                <a:spcPct val="150000"/>
              </a:lnSpc>
            </a:pPr>
            <a:endParaRPr lang="en-US" sz="1600" dirty="0"/>
          </a:p>
          <a:p>
            <a:pPr>
              <a:lnSpc>
                <a:spcPct val="150000"/>
              </a:lnSpc>
            </a:pPr>
            <a:r>
              <a:rPr lang="en-US" sz="1600" dirty="0"/>
              <a:t>The highest sender, </a:t>
            </a:r>
            <a:r>
              <a:rPr lang="en-US" sz="1600" b="1" dirty="0"/>
              <a:t>C7162498</a:t>
            </a:r>
            <a:r>
              <a:rPr lang="en-US" sz="1600" dirty="0"/>
              <a:t>, transferred ₹</a:t>
            </a:r>
            <a:r>
              <a:rPr lang="en-US" sz="1600" b="1" dirty="0"/>
              <a:t>10 million</a:t>
            </a:r>
            <a:r>
              <a:rPr lang="en-US" sz="1600" dirty="0"/>
              <a:t>, followed by others with transfers above ₹</a:t>
            </a:r>
            <a:r>
              <a:rPr lang="en-US" sz="1600" b="1" dirty="0"/>
              <a:t>6 million</a:t>
            </a:r>
            <a:r>
              <a:rPr lang="en-US" sz="1600" dirty="0"/>
              <a:t>. These accounts could be </a:t>
            </a:r>
            <a:r>
              <a:rPr lang="en-US" sz="1600" b="1" dirty="0"/>
              <a:t>high-value customers or potential fraud sources</a:t>
            </a:r>
            <a:r>
              <a:rPr lang="en-US" sz="1600" dirty="0"/>
              <a:t>.</a:t>
            </a:r>
          </a:p>
          <a:p>
            <a:pPr>
              <a:lnSpc>
                <a:spcPct val="150000"/>
              </a:lnSpc>
            </a:pPr>
            <a:endParaRPr lang="en-IN" sz="1600" dirty="0"/>
          </a:p>
        </p:txBody>
      </p:sp>
      <p:sp>
        <p:nvSpPr>
          <p:cNvPr id="2" name="Title 1">
            <a:extLst>
              <a:ext uri="{FF2B5EF4-FFF2-40B4-BE49-F238E27FC236}">
                <a16:creationId xmlns:a16="http://schemas.microsoft.com/office/drawing/2014/main" id="{826A3102-6919-0939-5AFE-F86EB915D84A}"/>
              </a:ext>
            </a:extLst>
          </p:cNvPr>
          <p:cNvSpPr>
            <a:spLocks noGrp="1"/>
          </p:cNvSpPr>
          <p:nvPr>
            <p:ph type="title" idx="4294967295"/>
          </p:nvPr>
        </p:nvSpPr>
        <p:spPr>
          <a:xfrm>
            <a:off x="0" y="365125"/>
            <a:ext cx="10515600" cy="1325563"/>
          </a:xfrm>
        </p:spPr>
        <p:txBody>
          <a:bodyPr>
            <a:normAutofit/>
          </a:bodyPr>
          <a:lstStyle/>
          <a:p>
            <a:pPr>
              <a:lnSpc>
                <a:spcPct val="150000"/>
              </a:lnSpc>
            </a:pPr>
            <a:r>
              <a:rPr lang="en-IN" sz="2000" b="1" dirty="0"/>
              <a:t>     Top Senders</a:t>
            </a:r>
            <a:br>
              <a:rPr lang="en-IN" sz="2000" b="1" dirty="0"/>
            </a:br>
            <a:endParaRPr lang="en-IN" sz="2000" dirty="0"/>
          </a:p>
        </p:txBody>
      </p:sp>
      <p:pic>
        <p:nvPicPr>
          <p:cNvPr id="5" name="Picture 4">
            <a:extLst>
              <a:ext uri="{FF2B5EF4-FFF2-40B4-BE49-F238E27FC236}">
                <a16:creationId xmlns:a16="http://schemas.microsoft.com/office/drawing/2014/main" id="{06A9FB9D-2D7D-B541-D575-DDA47D66BA2E}"/>
              </a:ext>
            </a:extLst>
          </p:cNvPr>
          <p:cNvPicPr>
            <a:picLocks noChangeAspect="1"/>
          </p:cNvPicPr>
          <p:nvPr/>
        </p:nvPicPr>
        <p:blipFill>
          <a:blip r:embed="rId2"/>
          <a:stretch>
            <a:fillRect/>
          </a:stretch>
        </p:blipFill>
        <p:spPr>
          <a:xfrm>
            <a:off x="2272660" y="2254515"/>
            <a:ext cx="5525271" cy="1743318"/>
          </a:xfrm>
          <a:prstGeom prst="rect">
            <a:avLst/>
          </a:prstGeom>
        </p:spPr>
      </p:pic>
    </p:spTree>
    <p:extLst>
      <p:ext uri="{BB962C8B-B14F-4D97-AF65-F5344CB8AC3E}">
        <p14:creationId xmlns:p14="http://schemas.microsoft.com/office/powerpoint/2010/main" val="33256956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E3A4C4-8F83-BAF6-4C74-05F9C6485236}"/>
              </a:ext>
            </a:extLst>
          </p:cNvPr>
          <p:cNvSpPr>
            <a:spLocks noGrp="1"/>
          </p:cNvSpPr>
          <p:nvPr>
            <p:ph idx="1"/>
          </p:nvPr>
        </p:nvSpPr>
        <p:spPr/>
        <p:txBody>
          <a:bodyPr>
            <a:normAutofit/>
          </a:bodyPr>
          <a:lstStyle/>
          <a:p>
            <a:pPr>
              <a:lnSpc>
                <a:spcPct val="150000"/>
              </a:lnSpc>
            </a:pPr>
            <a:r>
              <a:rPr lang="en-US" sz="1600" b="1" dirty="0"/>
              <a:t>What is the average balance of fraudulent vs. non-fraudulent origin accounts?</a:t>
            </a:r>
            <a:endParaRPr lang="en-US" sz="1600" dirty="0"/>
          </a:p>
          <a:p>
            <a:pPr>
              <a:lnSpc>
                <a:spcPct val="150000"/>
              </a:lnSpc>
            </a:pPr>
            <a:endParaRPr lang="en-IN" sz="1600" dirty="0"/>
          </a:p>
          <a:p>
            <a:pPr>
              <a:lnSpc>
                <a:spcPct val="150000"/>
              </a:lnSpc>
            </a:pPr>
            <a:endParaRPr lang="en-IN" sz="1600" dirty="0"/>
          </a:p>
          <a:p>
            <a:pPr>
              <a:lnSpc>
                <a:spcPct val="150000"/>
              </a:lnSpc>
            </a:pPr>
            <a:endParaRPr lang="en-IN" sz="1600" dirty="0"/>
          </a:p>
          <a:p>
            <a:pPr>
              <a:lnSpc>
                <a:spcPct val="150000"/>
              </a:lnSpc>
            </a:pPr>
            <a:endParaRPr lang="en-IN" sz="1600" dirty="0"/>
          </a:p>
          <a:p>
            <a:pPr>
              <a:lnSpc>
                <a:spcPct val="150000"/>
              </a:lnSpc>
            </a:pPr>
            <a:r>
              <a:rPr lang="en-IN" sz="1600" b="1" dirty="0"/>
              <a:t>Fraudulent accounts average balance:</a:t>
            </a:r>
            <a:r>
              <a:rPr lang="en-IN" sz="1600" dirty="0"/>
              <a:t> ₹</a:t>
            </a:r>
            <a:r>
              <a:rPr lang="en-IN" sz="1600" b="1" dirty="0"/>
              <a:t>1.65 million</a:t>
            </a:r>
          </a:p>
          <a:p>
            <a:pPr>
              <a:lnSpc>
                <a:spcPct val="150000"/>
              </a:lnSpc>
            </a:pPr>
            <a:r>
              <a:rPr lang="en-US" sz="1600" b="1" dirty="0"/>
              <a:t>Non-fraudulent accounts average balance:</a:t>
            </a:r>
            <a:r>
              <a:rPr lang="en-US" sz="1600" dirty="0"/>
              <a:t> ₹</a:t>
            </a:r>
            <a:r>
              <a:rPr lang="en-US" sz="1600" b="1" dirty="0"/>
              <a:t>832.8K</a:t>
            </a:r>
            <a:br>
              <a:rPr lang="en-US" sz="1600" dirty="0"/>
            </a:br>
            <a:r>
              <a:rPr lang="en-US" sz="1600" dirty="0"/>
              <a:t>Fraud-related accounts maintain </a:t>
            </a:r>
            <a:r>
              <a:rPr lang="en-US" sz="1600" b="1" dirty="0"/>
              <a:t>nearly double the average balance</a:t>
            </a:r>
            <a:r>
              <a:rPr lang="en-US" sz="1600" dirty="0"/>
              <a:t>, possibly to handle large fraudulent transactions.</a:t>
            </a:r>
          </a:p>
          <a:p>
            <a:pPr>
              <a:lnSpc>
                <a:spcPct val="150000"/>
              </a:lnSpc>
            </a:pPr>
            <a:endParaRPr lang="en-IN" sz="1600" dirty="0"/>
          </a:p>
        </p:txBody>
      </p:sp>
      <p:sp>
        <p:nvSpPr>
          <p:cNvPr id="2" name="Title 1">
            <a:extLst>
              <a:ext uri="{FF2B5EF4-FFF2-40B4-BE49-F238E27FC236}">
                <a16:creationId xmlns:a16="http://schemas.microsoft.com/office/drawing/2014/main" id="{5AC9E2FA-3354-A4B4-B538-FEB18F17B4C6}"/>
              </a:ext>
            </a:extLst>
          </p:cNvPr>
          <p:cNvSpPr>
            <a:spLocks noGrp="1"/>
          </p:cNvSpPr>
          <p:nvPr>
            <p:ph type="title" idx="4294967295"/>
          </p:nvPr>
        </p:nvSpPr>
        <p:spPr>
          <a:xfrm>
            <a:off x="0" y="365125"/>
            <a:ext cx="10515600" cy="1325563"/>
          </a:xfrm>
        </p:spPr>
        <p:txBody>
          <a:bodyPr>
            <a:noAutofit/>
          </a:bodyPr>
          <a:lstStyle/>
          <a:p>
            <a:pPr>
              <a:lnSpc>
                <a:spcPct val="150000"/>
              </a:lnSpc>
            </a:pPr>
            <a:br>
              <a:rPr lang="en-IN" sz="2000" b="1" dirty="0"/>
            </a:br>
            <a:r>
              <a:rPr lang="en-IN" sz="2000" b="1" dirty="0"/>
              <a:t>    </a:t>
            </a:r>
            <a:r>
              <a:rPr lang="en-IN" sz="2000" b="1" dirty="0" err="1"/>
              <a:t>Avg</a:t>
            </a:r>
            <a:r>
              <a:rPr lang="en-IN" sz="2000" b="1" dirty="0"/>
              <a:t> Balance</a:t>
            </a:r>
            <a:br>
              <a:rPr lang="en-IN" sz="2000" b="1" dirty="0"/>
            </a:br>
            <a:endParaRPr lang="en-IN" sz="2000" dirty="0"/>
          </a:p>
        </p:txBody>
      </p:sp>
      <p:pic>
        <p:nvPicPr>
          <p:cNvPr id="6" name="Picture 5">
            <a:extLst>
              <a:ext uri="{FF2B5EF4-FFF2-40B4-BE49-F238E27FC236}">
                <a16:creationId xmlns:a16="http://schemas.microsoft.com/office/drawing/2014/main" id="{A2D37312-6750-0D4D-1F29-EEBA85BF02DC}"/>
              </a:ext>
            </a:extLst>
          </p:cNvPr>
          <p:cNvPicPr>
            <a:picLocks noChangeAspect="1"/>
          </p:cNvPicPr>
          <p:nvPr/>
        </p:nvPicPr>
        <p:blipFill>
          <a:blip r:embed="rId2"/>
          <a:stretch>
            <a:fillRect/>
          </a:stretch>
        </p:blipFill>
        <p:spPr>
          <a:xfrm>
            <a:off x="2451685" y="3448767"/>
            <a:ext cx="6173061" cy="552527"/>
          </a:xfrm>
          <a:prstGeom prst="rect">
            <a:avLst/>
          </a:prstGeom>
        </p:spPr>
      </p:pic>
    </p:spTree>
    <p:extLst>
      <p:ext uri="{BB962C8B-B14F-4D97-AF65-F5344CB8AC3E}">
        <p14:creationId xmlns:p14="http://schemas.microsoft.com/office/powerpoint/2010/main" val="13402966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1514489-4860-8B92-A828-5ADAD3CCD769}"/>
              </a:ext>
            </a:extLst>
          </p:cNvPr>
          <p:cNvSpPr>
            <a:spLocks noGrp="1"/>
          </p:cNvSpPr>
          <p:nvPr>
            <p:ph idx="1"/>
          </p:nvPr>
        </p:nvSpPr>
        <p:spPr>
          <a:xfrm>
            <a:off x="838200" y="1825624"/>
            <a:ext cx="11353800" cy="5032375"/>
          </a:xfrm>
        </p:spPr>
        <p:txBody>
          <a:bodyPr>
            <a:normAutofit/>
          </a:bodyPr>
          <a:lstStyle/>
          <a:p>
            <a:pPr>
              <a:lnSpc>
                <a:spcPct val="150000"/>
              </a:lnSpc>
            </a:pPr>
            <a:r>
              <a:rPr lang="en-US" sz="1600" b="1" dirty="0"/>
              <a:t>What is the average amount per transaction type?</a:t>
            </a:r>
          </a:p>
          <a:p>
            <a:pPr>
              <a:lnSpc>
                <a:spcPct val="150000"/>
              </a:lnSpc>
            </a:pPr>
            <a:endParaRPr lang="en-US" sz="1600" b="1" dirty="0"/>
          </a:p>
          <a:p>
            <a:pPr>
              <a:lnSpc>
                <a:spcPct val="150000"/>
              </a:lnSpc>
            </a:pPr>
            <a:endParaRPr lang="en-US" sz="1600" b="1" dirty="0"/>
          </a:p>
          <a:p>
            <a:pPr>
              <a:lnSpc>
                <a:spcPct val="150000"/>
              </a:lnSpc>
            </a:pPr>
            <a:endParaRPr lang="en-US" sz="1600" b="1" dirty="0"/>
          </a:p>
          <a:p>
            <a:pPr>
              <a:lnSpc>
                <a:spcPct val="150000"/>
              </a:lnSpc>
            </a:pPr>
            <a:endParaRPr lang="en-US" sz="1600" b="1" dirty="0"/>
          </a:p>
          <a:p>
            <a:pPr>
              <a:lnSpc>
                <a:spcPct val="150000"/>
              </a:lnSpc>
            </a:pPr>
            <a:endParaRPr lang="en-US" sz="1600" b="1" dirty="0"/>
          </a:p>
          <a:p>
            <a:pPr>
              <a:lnSpc>
                <a:spcPct val="150000"/>
              </a:lnSpc>
            </a:pPr>
            <a:r>
              <a:rPr lang="en-IN" sz="1600" b="1" dirty="0"/>
              <a:t>TRANSFER:</a:t>
            </a:r>
            <a:r>
              <a:rPr lang="en-IN" sz="1600" dirty="0"/>
              <a:t> ₹</a:t>
            </a:r>
            <a:r>
              <a:rPr lang="en-IN" sz="1600" b="1" dirty="0"/>
              <a:t>910,647.01</a:t>
            </a:r>
            <a:r>
              <a:rPr lang="en-IN" sz="1600" dirty="0"/>
              <a:t> (highest average)</a:t>
            </a:r>
            <a:r>
              <a:rPr lang="en-US" sz="1600" b="1" dirty="0"/>
              <a:t>   . </a:t>
            </a:r>
            <a:r>
              <a:rPr lang="en-IN" sz="1600" b="1" dirty="0"/>
              <a:t>DEBIT:</a:t>
            </a:r>
            <a:r>
              <a:rPr lang="en-IN" sz="1600" dirty="0"/>
              <a:t> ₹</a:t>
            </a:r>
            <a:r>
              <a:rPr lang="en-IN" sz="1600" b="1" dirty="0"/>
              <a:t>5,483.67</a:t>
            </a:r>
            <a:endParaRPr lang="en-US" sz="1600" b="1" dirty="0"/>
          </a:p>
          <a:p>
            <a:pPr>
              <a:lnSpc>
                <a:spcPct val="150000"/>
              </a:lnSpc>
            </a:pPr>
            <a:r>
              <a:rPr lang="en-IN" sz="1600" b="1" dirty="0"/>
              <a:t>CASH_OUT:</a:t>
            </a:r>
            <a:r>
              <a:rPr lang="en-IN" sz="1600" dirty="0"/>
              <a:t> ₹</a:t>
            </a:r>
            <a:r>
              <a:rPr lang="en-IN" sz="1600" b="1" dirty="0"/>
              <a:t>176,273.96                                     . CASH_IN:</a:t>
            </a:r>
            <a:r>
              <a:rPr lang="en-IN" sz="1600" dirty="0"/>
              <a:t> ₹</a:t>
            </a:r>
            <a:r>
              <a:rPr lang="en-IN" sz="1600" b="1" dirty="0"/>
              <a:t>168,920.24</a:t>
            </a:r>
          </a:p>
          <a:p>
            <a:pPr>
              <a:lnSpc>
                <a:spcPct val="150000"/>
              </a:lnSpc>
            </a:pPr>
            <a:r>
              <a:rPr lang="en-IN" sz="1600" b="1" dirty="0"/>
              <a:t>PAYMENT:</a:t>
            </a:r>
            <a:r>
              <a:rPr lang="en-IN" sz="1600" dirty="0"/>
              <a:t> ₹</a:t>
            </a:r>
            <a:r>
              <a:rPr lang="en-IN" sz="1600" b="1" dirty="0"/>
              <a:t>13,057.60</a:t>
            </a:r>
            <a:endParaRPr lang="en-US" sz="1600" dirty="0"/>
          </a:p>
          <a:p>
            <a:pPr>
              <a:lnSpc>
                <a:spcPct val="150000"/>
              </a:lnSpc>
            </a:pPr>
            <a:endParaRPr lang="en-IN" sz="1600" dirty="0"/>
          </a:p>
          <a:p>
            <a:pPr>
              <a:lnSpc>
                <a:spcPct val="150000"/>
              </a:lnSpc>
            </a:pPr>
            <a:endParaRPr lang="en-IN" sz="1600" dirty="0"/>
          </a:p>
        </p:txBody>
      </p:sp>
      <p:sp>
        <p:nvSpPr>
          <p:cNvPr id="2" name="Title 1">
            <a:extLst>
              <a:ext uri="{FF2B5EF4-FFF2-40B4-BE49-F238E27FC236}">
                <a16:creationId xmlns:a16="http://schemas.microsoft.com/office/drawing/2014/main" id="{8ED861BE-F86B-479E-60A1-931F0DEC383C}"/>
              </a:ext>
            </a:extLst>
          </p:cNvPr>
          <p:cNvSpPr>
            <a:spLocks noGrp="1"/>
          </p:cNvSpPr>
          <p:nvPr>
            <p:ph type="title" idx="4294967295"/>
          </p:nvPr>
        </p:nvSpPr>
        <p:spPr>
          <a:xfrm>
            <a:off x="0" y="365125"/>
            <a:ext cx="10515600" cy="1325563"/>
          </a:xfrm>
        </p:spPr>
        <p:txBody>
          <a:bodyPr>
            <a:normAutofit/>
          </a:bodyPr>
          <a:lstStyle/>
          <a:p>
            <a:pPr>
              <a:lnSpc>
                <a:spcPct val="150000"/>
              </a:lnSpc>
            </a:pPr>
            <a:r>
              <a:rPr lang="en-IN" sz="2000" b="1" dirty="0"/>
              <a:t>     Type-wise </a:t>
            </a:r>
            <a:r>
              <a:rPr lang="en-IN" sz="2000" b="1" dirty="0" err="1"/>
              <a:t>Avg</a:t>
            </a:r>
            <a:br>
              <a:rPr lang="en-IN" sz="2000" b="1" dirty="0"/>
            </a:br>
            <a:endParaRPr lang="en-IN" sz="2000" dirty="0"/>
          </a:p>
        </p:txBody>
      </p:sp>
      <p:pic>
        <p:nvPicPr>
          <p:cNvPr id="5" name="Picture 4">
            <a:extLst>
              <a:ext uri="{FF2B5EF4-FFF2-40B4-BE49-F238E27FC236}">
                <a16:creationId xmlns:a16="http://schemas.microsoft.com/office/drawing/2014/main" id="{F608E3F8-5C65-9D3F-3D84-9B1850543494}"/>
              </a:ext>
            </a:extLst>
          </p:cNvPr>
          <p:cNvPicPr>
            <a:picLocks noChangeAspect="1"/>
          </p:cNvPicPr>
          <p:nvPr/>
        </p:nvPicPr>
        <p:blipFill>
          <a:blip r:embed="rId2"/>
          <a:stretch>
            <a:fillRect/>
          </a:stretch>
        </p:blipFill>
        <p:spPr>
          <a:xfrm>
            <a:off x="3595338" y="2966973"/>
            <a:ext cx="5001323" cy="924054"/>
          </a:xfrm>
          <a:prstGeom prst="rect">
            <a:avLst/>
          </a:prstGeom>
        </p:spPr>
      </p:pic>
    </p:spTree>
    <p:extLst>
      <p:ext uri="{BB962C8B-B14F-4D97-AF65-F5344CB8AC3E}">
        <p14:creationId xmlns:p14="http://schemas.microsoft.com/office/powerpoint/2010/main" val="7010071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46650C-27DB-AB51-BA1D-E51883F889C2}"/>
              </a:ext>
            </a:extLst>
          </p:cNvPr>
          <p:cNvSpPr>
            <a:spLocks noGrp="1"/>
          </p:cNvSpPr>
          <p:nvPr>
            <p:ph idx="1"/>
          </p:nvPr>
        </p:nvSpPr>
        <p:spPr/>
        <p:txBody>
          <a:bodyPr/>
          <a:lstStyle/>
          <a:p>
            <a:pPr>
              <a:lnSpc>
                <a:spcPct val="150000"/>
              </a:lnSpc>
            </a:pPr>
            <a:r>
              <a:rPr lang="en-US" sz="1600" dirty="0"/>
              <a:t>Which transaction type has the highest average fraud rate?</a:t>
            </a:r>
          </a:p>
          <a:p>
            <a:pPr>
              <a:lnSpc>
                <a:spcPct val="150000"/>
              </a:lnSpc>
            </a:pPr>
            <a:endParaRPr lang="en-US" sz="1600" dirty="0"/>
          </a:p>
          <a:p>
            <a:pPr>
              <a:lnSpc>
                <a:spcPct val="150000"/>
              </a:lnSpc>
            </a:pPr>
            <a:endParaRPr lang="en-US" sz="1600" dirty="0"/>
          </a:p>
          <a:p>
            <a:pPr>
              <a:lnSpc>
                <a:spcPct val="150000"/>
              </a:lnSpc>
            </a:pPr>
            <a:endParaRPr lang="en-US" sz="1600" dirty="0"/>
          </a:p>
          <a:p>
            <a:pPr>
              <a:lnSpc>
                <a:spcPct val="150000"/>
              </a:lnSpc>
            </a:pPr>
            <a:endParaRPr lang="en-US" sz="1600" dirty="0"/>
          </a:p>
          <a:p>
            <a:pPr>
              <a:lnSpc>
                <a:spcPct val="150000"/>
              </a:lnSpc>
            </a:pPr>
            <a:r>
              <a:rPr lang="en-IN" sz="1600" b="1" dirty="0"/>
              <a:t>TRANSFER:</a:t>
            </a:r>
            <a:r>
              <a:rPr lang="en-IN" sz="1600" dirty="0"/>
              <a:t> </a:t>
            </a:r>
            <a:r>
              <a:rPr lang="en-IN" sz="1600" b="1" dirty="0"/>
              <a:t>0.77% fraud rate</a:t>
            </a:r>
          </a:p>
          <a:p>
            <a:pPr>
              <a:lnSpc>
                <a:spcPct val="150000"/>
              </a:lnSpc>
            </a:pPr>
            <a:r>
              <a:rPr lang="en-IN" sz="1600" b="1" dirty="0"/>
              <a:t>CASH_OUT:</a:t>
            </a:r>
            <a:r>
              <a:rPr lang="en-IN" sz="1600" dirty="0"/>
              <a:t> </a:t>
            </a:r>
            <a:r>
              <a:rPr lang="en-IN" sz="1600" b="1" dirty="0"/>
              <a:t>0.18%</a:t>
            </a:r>
          </a:p>
          <a:p>
            <a:pPr>
              <a:lnSpc>
                <a:spcPct val="150000"/>
              </a:lnSpc>
            </a:pPr>
            <a:r>
              <a:rPr lang="en-IN" sz="1600" dirty="0"/>
              <a:t>All others: </a:t>
            </a:r>
            <a:r>
              <a:rPr lang="en-IN" sz="1600" b="1" dirty="0"/>
              <a:t>0%</a:t>
            </a:r>
            <a:endParaRPr lang="en-IN" sz="1600" dirty="0"/>
          </a:p>
        </p:txBody>
      </p:sp>
      <p:sp>
        <p:nvSpPr>
          <p:cNvPr id="2" name="Title 1">
            <a:extLst>
              <a:ext uri="{FF2B5EF4-FFF2-40B4-BE49-F238E27FC236}">
                <a16:creationId xmlns:a16="http://schemas.microsoft.com/office/drawing/2014/main" id="{D27F87D3-48CE-5FA8-2814-4DAB52A6E76A}"/>
              </a:ext>
            </a:extLst>
          </p:cNvPr>
          <p:cNvSpPr>
            <a:spLocks noGrp="1"/>
          </p:cNvSpPr>
          <p:nvPr>
            <p:ph type="title" idx="4294967295"/>
          </p:nvPr>
        </p:nvSpPr>
        <p:spPr>
          <a:xfrm>
            <a:off x="0" y="365125"/>
            <a:ext cx="10515600" cy="1325563"/>
          </a:xfrm>
        </p:spPr>
        <p:txBody>
          <a:bodyPr>
            <a:normAutofit/>
          </a:bodyPr>
          <a:lstStyle/>
          <a:p>
            <a:pPr>
              <a:lnSpc>
                <a:spcPct val="150000"/>
              </a:lnSpc>
            </a:pPr>
            <a:r>
              <a:rPr lang="en-IN" sz="2000" dirty="0"/>
              <a:t>    Type-wise Fraud</a:t>
            </a:r>
            <a:br>
              <a:rPr lang="en-IN" sz="2000" dirty="0"/>
            </a:br>
            <a:endParaRPr lang="en-IN" sz="2000" dirty="0"/>
          </a:p>
        </p:txBody>
      </p:sp>
      <p:pic>
        <p:nvPicPr>
          <p:cNvPr id="6" name="Picture 5">
            <a:extLst>
              <a:ext uri="{FF2B5EF4-FFF2-40B4-BE49-F238E27FC236}">
                <a16:creationId xmlns:a16="http://schemas.microsoft.com/office/drawing/2014/main" id="{245C2653-FA8C-E347-0E4F-3CA59D0E1D12}"/>
              </a:ext>
            </a:extLst>
          </p:cNvPr>
          <p:cNvPicPr>
            <a:picLocks noChangeAspect="1"/>
          </p:cNvPicPr>
          <p:nvPr/>
        </p:nvPicPr>
        <p:blipFill>
          <a:blip r:embed="rId2"/>
          <a:stretch>
            <a:fillRect/>
          </a:stretch>
        </p:blipFill>
        <p:spPr>
          <a:xfrm>
            <a:off x="3071390" y="2857420"/>
            <a:ext cx="6049219" cy="1143160"/>
          </a:xfrm>
          <a:prstGeom prst="rect">
            <a:avLst/>
          </a:prstGeom>
        </p:spPr>
      </p:pic>
    </p:spTree>
    <p:extLst>
      <p:ext uri="{BB962C8B-B14F-4D97-AF65-F5344CB8AC3E}">
        <p14:creationId xmlns:p14="http://schemas.microsoft.com/office/powerpoint/2010/main" val="2826528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C7283B-0319-30F9-1175-D34BC5FCE0F0}"/>
              </a:ext>
            </a:extLst>
          </p:cNvPr>
          <p:cNvSpPr>
            <a:spLocks noGrp="1"/>
          </p:cNvSpPr>
          <p:nvPr>
            <p:ph idx="1"/>
          </p:nvPr>
        </p:nvSpPr>
        <p:spPr/>
        <p:txBody>
          <a:bodyPr/>
          <a:lstStyle/>
          <a:p>
            <a:pPr>
              <a:lnSpc>
                <a:spcPct val="150000"/>
              </a:lnSpc>
            </a:pPr>
            <a:r>
              <a:rPr lang="en-US" sz="1600" dirty="0"/>
              <a:t>Are there transactions where the origin balance didn’t change?</a:t>
            </a:r>
          </a:p>
          <a:p>
            <a:pPr>
              <a:lnSpc>
                <a:spcPct val="150000"/>
              </a:lnSpc>
            </a:pPr>
            <a:endParaRPr lang="en-US" sz="1600" dirty="0"/>
          </a:p>
          <a:p>
            <a:pPr>
              <a:lnSpc>
                <a:spcPct val="150000"/>
              </a:lnSpc>
            </a:pPr>
            <a:endParaRPr lang="en-US" sz="1600" dirty="0"/>
          </a:p>
          <a:p>
            <a:pPr>
              <a:lnSpc>
                <a:spcPct val="150000"/>
              </a:lnSpc>
            </a:pPr>
            <a:endParaRPr lang="en-US" sz="1600" dirty="0"/>
          </a:p>
          <a:p>
            <a:pPr>
              <a:lnSpc>
                <a:spcPct val="150000"/>
              </a:lnSpc>
            </a:pPr>
            <a:endParaRPr lang="en-US" sz="1600" dirty="0"/>
          </a:p>
          <a:p>
            <a:pPr>
              <a:lnSpc>
                <a:spcPct val="150000"/>
              </a:lnSpc>
            </a:pPr>
            <a:endParaRPr lang="en-US" sz="1600" dirty="0"/>
          </a:p>
          <a:p>
            <a:pPr>
              <a:lnSpc>
                <a:spcPct val="150000"/>
              </a:lnSpc>
            </a:pPr>
            <a:r>
              <a:rPr lang="en-US" sz="1600" dirty="0"/>
              <a:t>There are </a:t>
            </a:r>
            <a:r>
              <a:rPr lang="en-US" sz="1600" b="1" dirty="0"/>
              <a:t>2,089,037 transactions</a:t>
            </a:r>
            <a:r>
              <a:rPr lang="en-US" sz="1600" dirty="0"/>
              <a:t> where the </a:t>
            </a:r>
            <a:r>
              <a:rPr lang="en-US" sz="1600" b="1" dirty="0"/>
              <a:t>origin balance remained unchanged</a:t>
            </a:r>
            <a:r>
              <a:rPr lang="en-US" sz="1600" dirty="0"/>
              <a:t> after the transaction—possibly </a:t>
            </a:r>
            <a:r>
              <a:rPr lang="en-US" sz="1600" b="1" dirty="0"/>
              <a:t>anomaly or logging error</a:t>
            </a:r>
            <a:r>
              <a:rPr lang="en-US" sz="1600" dirty="0"/>
              <a:t>.</a:t>
            </a:r>
          </a:p>
          <a:p>
            <a:pPr>
              <a:lnSpc>
                <a:spcPct val="150000"/>
              </a:lnSpc>
            </a:pPr>
            <a:endParaRPr lang="en-IN" sz="1600" dirty="0"/>
          </a:p>
        </p:txBody>
      </p:sp>
      <p:sp>
        <p:nvSpPr>
          <p:cNvPr id="2" name="Title 1">
            <a:extLst>
              <a:ext uri="{FF2B5EF4-FFF2-40B4-BE49-F238E27FC236}">
                <a16:creationId xmlns:a16="http://schemas.microsoft.com/office/drawing/2014/main" id="{5719BD9E-A484-E3C2-D76F-51E36CC03261}"/>
              </a:ext>
            </a:extLst>
          </p:cNvPr>
          <p:cNvSpPr>
            <a:spLocks noGrp="1"/>
          </p:cNvSpPr>
          <p:nvPr>
            <p:ph type="title" idx="4294967295"/>
          </p:nvPr>
        </p:nvSpPr>
        <p:spPr>
          <a:xfrm>
            <a:off x="0" y="365125"/>
            <a:ext cx="10515600" cy="1325563"/>
          </a:xfrm>
        </p:spPr>
        <p:txBody>
          <a:bodyPr>
            <a:normAutofit/>
          </a:bodyPr>
          <a:lstStyle/>
          <a:p>
            <a:pPr>
              <a:lnSpc>
                <a:spcPct val="150000"/>
              </a:lnSpc>
            </a:pPr>
            <a:r>
              <a:rPr lang="en-IN" sz="2000" dirty="0"/>
              <a:t>      Unchanged Origin Balance</a:t>
            </a:r>
          </a:p>
        </p:txBody>
      </p:sp>
      <p:pic>
        <p:nvPicPr>
          <p:cNvPr id="7" name="Picture 6">
            <a:extLst>
              <a:ext uri="{FF2B5EF4-FFF2-40B4-BE49-F238E27FC236}">
                <a16:creationId xmlns:a16="http://schemas.microsoft.com/office/drawing/2014/main" id="{E489A0AD-55FF-CCDE-B0F9-965BAE758B76}"/>
              </a:ext>
            </a:extLst>
          </p:cNvPr>
          <p:cNvPicPr>
            <a:picLocks noChangeAspect="1"/>
          </p:cNvPicPr>
          <p:nvPr/>
        </p:nvPicPr>
        <p:blipFill>
          <a:blip r:embed="rId2"/>
          <a:stretch>
            <a:fillRect/>
          </a:stretch>
        </p:blipFill>
        <p:spPr>
          <a:xfrm>
            <a:off x="3559177" y="3429000"/>
            <a:ext cx="4525006" cy="876422"/>
          </a:xfrm>
          <a:prstGeom prst="rect">
            <a:avLst/>
          </a:prstGeom>
        </p:spPr>
      </p:pic>
    </p:spTree>
    <p:extLst>
      <p:ext uri="{BB962C8B-B14F-4D97-AF65-F5344CB8AC3E}">
        <p14:creationId xmlns:p14="http://schemas.microsoft.com/office/powerpoint/2010/main" val="9692092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0142360-93B1-5131-4BD8-8ACFF51A65A8}"/>
              </a:ext>
            </a:extLst>
          </p:cNvPr>
          <p:cNvSpPr>
            <a:spLocks noGrp="1"/>
          </p:cNvSpPr>
          <p:nvPr>
            <p:ph idx="1"/>
          </p:nvPr>
        </p:nvSpPr>
        <p:spPr/>
        <p:txBody>
          <a:bodyPr/>
          <a:lstStyle/>
          <a:p>
            <a:pPr>
              <a:lnSpc>
                <a:spcPct val="150000"/>
              </a:lnSpc>
            </a:pPr>
            <a:r>
              <a:rPr lang="en-US" sz="1600" dirty="0"/>
              <a:t>Are there transactions where the destination balance didn’t change?</a:t>
            </a:r>
          </a:p>
          <a:p>
            <a:pPr>
              <a:lnSpc>
                <a:spcPct val="150000"/>
              </a:lnSpc>
            </a:pPr>
            <a:endParaRPr lang="en-US" sz="1600" dirty="0"/>
          </a:p>
          <a:p>
            <a:pPr>
              <a:lnSpc>
                <a:spcPct val="150000"/>
              </a:lnSpc>
            </a:pPr>
            <a:endParaRPr lang="en-US" sz="1600" dirty="0"/>
          </a:p>
          <a:p>
            <a:pPr>
              <a:lnSpc>
                <a:spcPct val="150000"/>
              </a:lnSpc>
            </a:pPr>
            <a:endParaRPr lang="en-US" sz="1600" dirty="0"/>
          </a:p>
          <a:p>
            <a:pPr>
              <a:lnSpc>
                <a:spcPct val="150000"/>
              </a:lnSpc>
            </a:pPr>
            <a:endParaRPr lang="en-US" sz="1600" dirty="0"/>
          </a:p>
          <a:p>
            <a:pPr>
              <a:lnSpc>
                <a:spcPct val="150000"/>
              </a:lnSpc>
            </a:pPr>
            <a:r>
              <a:rPr lang="en-US" sz="1600" dirty="0"/>
              <a:t>In </a:t>
            </a:r>
            <a:r>
              <a:rPr lang="en-US" sz="1600" b="1" dirty="0"/>
              <a:t>2,317,292 transactions</a:t>
            </a:r>
            <a:r>
              <a:rPr lang="en-US" sz="1600" dirty="0"/>
              <a:t>, the </a:t>
            </a:r>
            <a:r>
              <a:rPr lang="en-US" sz="1600" b="1" dirty="0"/>
              <a:t>destination balance didn’t change</a:t>
            </a:r>
            <a:r>
              <a:rPr lang="en-US" sz="1600" dirty="0"/>
              <a:t>, raising questions about </a:t>
            </a:r>
            <a:r>
              <a:rPr lang="en-US" sz="1600" b="1" dirty="0"/>
              <a:t>failed updates or dummy transactions</a:t>
            </a:r>
            <a:r>
              <a:rPr lang="en-US" sz="1600" dirty="0"/>
              <a:t>.</a:t>
            </a:r>
            <a:endParaRPr lang="en-IN" sz="1600" dirty="0"/>
          </a:p>
        </p:txBody>
      </p:sp>
      <p:sp>
        <p:nvSpPr>
          <p:cNvPr id="2" name="Title 1">
            <a:extLst>
              <a:ext uri="{FF2B5EF4-FFF2-40B4-BE49-F238E27FC236}">
                <a16:creationId xmlns:a16="http://schemas.microsoft.com/office/drawing/2014/main" id="{65624AD2-ED59-5FCB-645F-4873ECD332E2}"/>
              </a:ext>
            </a:extLst>
          </p:cNvPr>
          <p:cNvSpPr>
            <a:spLocks noGrp="1"/>
          </p:cNvSpPr>
          <p:nvPr>
            <p:ph type="title" idx="4294967295"/>
          </p:nvPr>
        </p:nvSpPr>
        <p:spPr>
          <a:xfrm>
            <a:off x="0" y="365125"/>
            <a:ext cx="10515600" cy="1325563"/>
          </a:xfrm>
        </p:spPr>
        <p:txBody>
          <a:bodyPr>
            <a:noAutofit/>
          </a:bodyPr>
          <a:lstStyle/>
          <a:p>
            <a:pPr>
              <a:lnSpc>
                <a:spcPct val="150000"/>
              </a:lnSpc>
            </a:pPr>
            <a:br>
              <a:rPr lang="en-IN" sz="2000" dirty="0"/>
            </a:br>
            <a:r>
              <a:rPr lang="en-IN" sz="2000" dirty="0"/>
              <a:t>     Unchanged Destination Balance</a:t>
            </a:r>
            <a:br>
              <a:rPr lang="en-IN" sz="2000" dirty="0"/>
            </a:br>
            <a:br>
              <a:rPr lang="en-IN" sz="2000" dirty="0"/>
            </a:br>
            <a:endParaRPr lang="en-IN" sz="2000" dirty="0"/>
          </a:p>
        </p:txBody>
      </p:sp>
      <p:pic>
        <p:nvPicPr>
          <p:cNvPr id="5" name="Picture 4">
            <a:extLst>
              <a:ext uri="{FF2B5EF4-FFF2-40B4-BE49-F238E27FC236}">
                <a16:creationId xmlns:a16="http://schemas.microsoft.com/office/drawing/2014/main" id="{84BD5546-60E4-03A2-63E6-15ECF7B52473}"/>
              </a:ext>
            </a:extLst>
          </p:cNvPr>
          <p:cNvPicPr>
            <a:picLocks noChangeAspect="1"/>
          </p:cNvPicPr>
          <p:nvPr/>
        </p:nvPicPr>
        <p:blipFill>
          <a:blip r:embed="rId2"/>
          <a:stretch>
            <a:fillRect/>
          </a:stretch>
        </p:blipFill>
        <p:spPr>
          <a:xfrm>
            <a:off x="3876365" y="3066999"/>
            <a:ext cx="4439270" cy="724001"/>
          </a:xfrm>
          <a:prstGeom prst="rect">
            <a:avLst/>
          </a:prstGeom>
        </p:spPr>
      </p:pic>
    </p:spTree>
    <p:extLst>
      <p:ext uri="{BB962C8B-B14F-4D97-AF65-F5344CB8AC3E}">
        <p14:creationId xmlns:p14="http://schemas.microsoft.com/office/powerpoint/2010/main" val="25258238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25297A-CD49-FE11-34F0-93EF488C0B33}"/>
              </a:ext>
            </a:extLst>
          </p:cNvPr>
          <p:cNvSpPr>
            <a:spLocks noGrp="1"/>
          </p:cNvSpPr>
          <p:nvPr>
            <p:ph idx="1"/>
          </p:nvPr>
        </p:nvSpPr>
        <p:spPr/>
        <p:txBody>
          <a:bodyPr>
            <a:normAutofit/>
          </a:bodyPr>
          <a:lstStyle/>
          <a:p>
            <a:pPr>
              <a:lnSpc>
                <a:spcPct val="150000"/>
              </a:lnSpc>
            </a:pPr>
            <a:r>
              <a:rPr lang="en-US" sz="1600" dirty="0"/>
              <a:t>How often are both origin and destination balances unchanged in frauds?</a:t>
            </a:r>
          </a:p>
          <a:p>
            <a:pPr>
              <a:lnSpc>
                <a:spcPct val="150000"/>
              </a:lnSpc>
            </a:pPr>
            <a:endParaRPr lang="en-US" sz="1600" dirty="0"/>
          </a:p>
          <a:p>
            <a:pPr>
              <a:lnSpc>
                <a:spcPct val="150000"/>
              </a:lnSpc>
            </a:pPr>
            <a:endParaRPr lang="en-US" sz="1600" dirty="0"/>
          </a:p>
          <a:p>
            <a:pPr>
              <a:lnSpc>
                <a:spcPct val="150000"/>
              </a:lnSpc>
            </a:pPr>
            <a:endParaRPr lang="en-US" sz="1600" dirty="0"/>
          </a:p>
          <a:p>
            <a:pPr>
              <a:lnSpc>
                <a:spcPct val="150000"/>
              </a:lnSpc>
            </a:pPr>
            <a:endParaRPr lang="en-US" sz="1600" dirty="0"/>
          </a:p>
          <a:p>
            <a:pPr>
              <a:lnSpc>
                <a:spcPct val="150000"/>
              </a:lnSpc>
            </a:pPr>
            <a:endParaRPr lang="en-US" sz="1600" dirty="0"/>
          </a:p>
          <a:p>
            <a:pPr>
              <a:lnSpc>
                <a:spcPct val="150000"/>
              </a:lnSpc>
            </a:pPr>
            <a:r>
              <a:rPr lang="en-US" sz="1600" dirty="0"/>
              <a:t>In </a:t>
            </a:r>
            <a:r>
              <a:rPr lang="en-US" sz="1600" b="1" dirty="0"/>
              <a:t>32 fraudulent transactions</a:t>
            </a:r>
            <a:r>
              <a:rPr lang="en-US" sz="1600" dirty="0"/>
              <a:t>, </a:t>
            </a:r>
            <a:r>
              <a:rPr lang="en-US" sz="1600" b="1" dirty="0"/>
              <a:t>neither balance changed</a:t>
            </a:r>
            <a:r>
              <a:rPr lang="en-US" sz="1600" dirty="0"/>
              <a:t>, indicating potential </a:t>
            </a:r>
            <a:r>
              <a:rPr lang="en-US" sz="1600" b="1" dirty="0"/>
              <a:t>simulation frauds or dataset integrity issues</a:t>
            </a:r>
            <a:r>
              <a:rPr lang="en-US" sz="1600" dirty="0"/>
              <a:t>.</a:t>
            </a:r>
            <a:endParaRPr lang="en-IN" sz="1600" dirty="0"/>
          </a:p>
        </p:txBody>
      </p:sp>
      <p:sp>
        <p:nvSpPr>
          <p:cNvPr id="2" name="Title 1">
            <a:extLst>
              <a:ext uri="{FF2B5EF4-FFF2-40B4-BE49-F238E27FC236}">
                <a16:creationId xmlns:a16="http://schemas.microsoft.com/office/drawing/2014/main" id="{14E24810-A762-7AE6-ACAB-6414A9D311DE}"/>
              </a:ext>
            </a:extLst>
          </p:cNvPr>
          <p:cNvSpPr>
            <a:spLocks noGrp="1"/>
          </p:cNvSpPr>
          <p:nvPr>
            <p:ph type="title" idx="4294967295"/>
          </p:nvPr>
        </p:nvSpPr>
        <p:spPr>
          <a:xfrm>
            <a:off x="0" y="365125"/>
            <a:ext cx="10515600" cy="1325563"/>
          </a:xfrm>
        </p:spPr>
        <p:txBody>
          <a:bodyPr>
            <a:noAutofit/>
          </a:bodyPr>
          <a:lstStyle/>
          <a:p>
            <a:pPr>
              <a:lnSpc>
                <a:spcPct val="150000"/>
              </a:lnSpc>
            </a:pPr>
            <a:br>
              <a:rPr lang="en-IN" sz="2000" dirty="0"/>
            </a:br>
            <a:r>
              <a:rPr lang="en-IN" sz="2000" dirty="0"/>
              <a:t>   Static Balances in Fraud</a:t>
            </a:r>
            <a:br>
              <a:rPr lang="en-IN" sz="2000" dirty="0"/>
            </a:br>
            <a:endParaRPr lang="en-IN" sz="2000" dirty="0"/>
          </a:p>
        </p:txBody>
      </p:sp>
      <p:pic>
        <p:nvPicPr>
          <p:cNvPr id="5" name="Picture 4">
            <a:extLst>
              <a:ext uri="{FF2B5EF4-FFF2-40B4-BE49-F238E27FC236}">
                <a16:creationId xmlns:a16="http://schemas.microsoft.com/office/drawing/2014/main" id="{C5CB29A9-5051-7E0E-1C4D-5A05D4EADC1E}"/>
              </a:ext>
            </a:extLst>
          </p:cNvPr>
          <p:cNvPicPr>
            <a:picLocks noChangeAspect="1"/>
          </p:cNvPicPr>
          <p:nvPr/>
        </p:nvPicPr>
        <p:blipFill>
          <a:blip r:embed="rId2"/>
          <a:stretch>
            <a:fillRect/>
          </a:stretch>
        </p:blipFill>
        <p:spPr>
          <a:xfrm>
            <a:off x="3342891" y="2928867"/>
            <a:ext cx="5506218" cy="1000265"/>
          </a:xfrm>
          <a:prstGeom prst="rect">
            <a:avLst/>
          </a:prstGeom>
        </p:spPr>
      </p:pic>
    </p:spTree>
    <p:extLst>
      <p:ext uri="{BB962C8B-B14F-4D97-AF65-F5344CB8AC3E}">
        <p14:creationId xmlns:p14="http://schemas.microsoft.com/office/powerpoint/2010/main" val="26425427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E3820B-E429-F5E4-FD12-EFB6CF667692}"/>
              </a:ext>
            </a:extLst>
          </p:cNvPr>
          <p:cNvSpPr>
            <a:spLocks noGrp="1"/>
          </p:cNvSpPr>
          <p:nvPr>
            <p:ph idx="1"/>
          </p:nvPr>
        </p:nvSpPr>
        <p:spPr/>
        <p:txBody>
          <a:bodyPr>
            <a:normAutofit/>
          </a:bodyPr>
          <a:lstStyle/>
          <a:p>
            <a:pPr>
              <a:lnSpc>
                <a:spcPct val="150000"/>
              </a:lnSpc>
            </a:pPr>
            <a:r>
              <a:rPr lang="en-US" sz="1600" dirty="0"/>
              <a:t> How many frauds were flagged by the system?</a:t>
            </a:r>
          </a:p>
          <a:p>
            <a:pPr>
              <a:lnSpc>
                <a:spcPct val="150000"/>
              </a:lnSpc>
            </a:pPr>
            <a:endParaRPr lang="en-US" sz="1600" dirty="0"/>
          </a:p>
          <a:p>
            <a:pPr>
              <a:lnSpc>
                <a:spcPct val="150000"/>
              </a:lnSpc>
            </a:pPr>
            <a:endParaRPr lang="en-US" sz="1600" dirty="0"/>
          </a:p>
          <a:p>
            <a:pPr>
              <a:lnSpc>
                <a:spcPct val="150000"/>
              </a:lnSpc>
            </a:pPr>
            <a:endParaRPr lang="en-US" sz="1600" dirty="0"/>
          </a:p>
          <a:p>
            <a:pPr>
              <a:lnSpc>
                <a:spcPct val="150000"/>
              </a:lnSpc>
            </a:pPr>
            <a:endParaRPr lang="en-US" sz="1600" dirty="0"/>
          </a:p>
          <a:p>
            <a:pPr>
              <a:lnSpc>
                <a:spcPct val="150000"/>
              </a:lnSpc>
            </a:pPr>
            <a:endParaRPr lang="en-US" sz="1600" dirty="0"/>
          </a:p>
          <a:p>
            <a:pPr>
              <a:lnSpc>
                <a:spcPct val="150000"/>
              </a:lnSpc>
            </a:pPr>
            <a:r>
              <a:rPr lang="en-US" sz="1600" dirty="0"/>
              <a:t>Only </a:t>
            </a:r>
            <a:r>
              <a:rPr lang="en-US" sz="1600" b="1" dirty="0"/>
              <a:t>16 frauds</a:t>
            </a:r>
            <a:r>
              <a:rPr lang="en-US" sz="1600" dirty="0"/>
              <a:t> were flagged by the system, which is </a:t>
            </a:r>
            <a:r>
              <a:rPr lang="en-US" sz="1600" b="1" dirty="0"/>
              <a:t>very low</a:t>
            </a:r>
            <a:r>
              <a:rPr lang="en-US" sz="1600" dirty="0"/>
              <a:t> compared to the actual number of frauds (</a:t>
            </a:r>
            <a:r>
              <a:rPr lang="en-US" sz="1600" b="1" dirty="0"/>
              <a:t>8,213</a:t>
            </a:r>
            <a:r>
              <a:rPr lang="en-US" sz="1600" dirty="0"/>
              <a:t>). This suggests a </a:t>
            </a:r>
            <a:r>
              <a:rPr lang="en-US" sz="1600" b="1" dirty="0"/>
              <a:t>poor performance of the current fraud detection mechanism</a:t>
            </a:r>
            <a:r>
              <a:rPr lang="en-US" sz="1600" dirty="0"/>
              <a:t>.</a:t>
            </a:r>
          </a:p>
          <a:p>
            <a:pPr>
              <a:lnSpc>
                <a:spcPct val="150000"/>
              </a:lnSpc>
            </a:pPr>
            <a:endParaRPr lang="en-IN" sz="1600" dirty="0"/>
          </a:p>
        </p:txBody>
      </p:sp>
      <p:sp>
        <p:nvSpPr>
          <p:cNvPr id="2" name="Title 1">
            <a:extLst>
              <a:ext uri="{FF2B5EF4-FFF2-40B4-BE49-F238E27FC236}">
                <a16:creationId xmlns:a16="http://schemas.microsoft.com/office/drawing/2014/main" id="{BB82265D-E9D1-4365-A632-7AD14934FA79}"/>
              </a:ext>
            </a:extLst>
          </p:cNvPr>
          <p:cNvSpPr>
            <a:spLocks noGrp="1"/>
          </p:cNvSpPr>
          <p:nvPr>
            <p:ph type="title" idx="4294967295"/>
          </p:nvPr>
        </p:nvSpPr>
        <p:spPr>
          <a:xfrm>
            <a:off x="0" y="365125"/>
            <a:ext cx="10515600" cy="1325563"/>
          </a:xfrm>
        </p:spPr>
        <p:txBody>
          <a:bodyPr>
            <a:noAutofit/>
          </a:bodyPr>
          <a:lstStyle/>
          <a:p>
            <a:pPr>
              <a:lnSpc>
                <a:spcPct val="150000"/>
              </a:lnSpc>
            </a:pPr>
            <a:br>
              <a:rPr lang="en-IN" sz="2000" dirty="0"/>
            </a:br>
            <a:r>
              <a:rPr lang="en-IN" sz="2000" dirty="0"/>
              <a:t>    Flagging System</a:t>
            </a:r>
            <a:br>
              <a:rPr lang="en-IN" sz="2000" dirty="0"/>
            </a:br>
            <a:endParaRPr lang="en-IN" sz="2000" dirty="0"/>
          </a:p>
        </p:txBody>
      </p:sp>
      <p:pic>
        <p:nvPicPr>
          <p:cNvPr id="5" name="Picture 4">
            <a:extLst>
              <a:ext uri="{FF2B5EF4-FFF2-40B4-BE49-F238E27FC236}">
                <a16:creationId xmlns:a16="http://schemas.microsoft.com/office/drawing/2014/main" id="{17FDA2D2-7849-05C2-9AF4-FC8ED3208852}"/>
              </a:ext>
            </a:extLst>
          </p:cNvPr>
          <p:cNvPicPr>
            <a:picLocks noChangeAspect="1"/>
          </p:cNvPicPr>
          <p:nvPr/>
        </p:nvPicPr>
        <p:blipFill>
          <a:blip r:embed="rId2"/>
          <a:stretch>
            <a:fillRect/>
          </a:stretch>
        </p:blipFill>
        <p:spPr>
          <a:xfrm>
            <a:off x="3862075" y="2995552"/>
            <a:ext cx="4467849" cy="866896"/>
          </a:xfrm>
          <a:prstGeom prst="rect">
            <a:avLst/>
          </a:prstGeom>
        </p:spPr>
      </p:pic>
    </p:spTree>
    <p:extLst>
      <p:ext uri="{BB962C8B-B14F-4D97-AF65-F5344CB8AC3E}">
        <p14:creationId xmlns:p14="http://schemas.microsoft.com/office/powerpoint/2010/main" val="27696943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AEF76DB-E9F4-9FE0-A3BA-764F1BA4AB3B}"/>
              </a:ext>
            </a:extLst>
          </p:cNvPr>
          <p:cNvSpPr>
            <a:spLocks noGrp="1"/>
          </p:cNvSpPr>
          <p:nvPr>
            <p:ph idx="1"/>
          </p:nvPr>
        </p:nvSpPr>
        <p:spPr/>
        <p:txBody>
          <a:bodyPr/>
          <a:lstStyle/>
          <a:p>
            <a:pPr>
              <a:lnSpc>
                <a:spcPct val="150000"/>
              </a:lnSpc>
            </a:pPr>
            <a:r>
              <a:rPr lang="en-US" sz="1600" dirty="0"/>
              <a:t> What percentage of frauds were flagged by the system?\</a:t>
            </a:r>
          </a:p>
          <a:p>
            <a:pPr>
              <a:lnSpc>
                <a:spcPct val="150000"/>
              </a:lnSpc>
            </a:pPr>
            <a:endParaRPr lang="en-US" sz="1600" dirty="0"/>
          </a:p>
          <a:p>
            <a:pPr>
              <a:lnSpc>
                <a:spcPct val="150000"/>
              </a:lnSpc>
            </a:pPr>
            <a:endParaRPr lang="en-US" sz="1600" dirty="0"/>
          </a:p>
          <a:p>
            <a:pPr>
              <a:lnSpc>
                <a:spcPct val="150000"/>
              </a:lnSpc>
            </a:pPr>
            <a:endParaRPr lang="en-US" sz="1600" dirty="0"/>
          </a:p>
          <a:p>
            <a:pPr>
              <a:lnSpc>
                <a:spcPct val="150000"/>
              </a:lnSpc>
            </a:pPr>
            <a:endParaRPr lang="en-US" sz="1600" dirty="0"/>
          </a:p>
          <a:p>
            <a:pPr>
              <a:lnSpc>
                <a:spcPct val="150000"/>
              </a:lnSpc>
            </a:pPr>
            <a:endParaRPr lang="en-US" sz="1600" dirty="0"/>
          </a:p>
          <a:p>
            <a:pPr>
              <a:lnSpc>
                <a:spcPct val="150000"/>
              </a:lnSpc>
            </a:pPr>
            <a:r>
              <a:rPr lang="en-US" sz="1600" dirty="0"/>
              <a:t>The system correctly flagged only </a:t>
            </a:r>
            <a:r>
              <a:rPr lang="en-US" sz="1600" b="1" dirty="0"/>
              <a:t>0.19%</a:t>
            </a:r>
            <a:r>
              <a:rPr lang="en-US" sz="1600" dirty="0"/>
              <a:t> of the total frauds. This indicates a </a:t>
            </a:r>
            <a:r>
              <a:rPr lang="en-US" sz="1600" b="1" dirty="0"/>
              <a:t>very low detection accuracy</a:t>
            </a:r>
            <a:r>
              <a:rPr lang="en-US" sz="1600" dirty="0"/>
              <a:t>, and the flagging logic needs significant improvement.</a:t>
            </a:r>
            <a:endParaRPr lang="en-IN" sz="1600" dirty="0"/>
          </a:p>
        </p:txBody>
      </p:sp>
      <p:sp>
        <p:nvSpPr>
          <p:cNvPr id="2" name="Title 1">
            <a:extLst>
              <a:ext uri="{FF2B5EF4-FFF2-40B4-BE49-F238E27FC236}">
                <a16:creationId xmlns:a16="http://schemas.microsoft.com/office/drawing/2014/main" id="{A55A0AC9-6E1D-98E5-AE24-B3A51EE2894F}"/>
              </a:ext>
            </a:extLst>
          </p:cNvPr>
          <p:cNvSpPr>
            <a:spLocks noGrp="1"/>
          </p:cNvSpPr>
          <p:nvPr>
            <p:ph type="title" idx="4294967295"/>
          </p:nvPr>
        </p:nvSpPr>
        <p:spPr>
          <a:xfrm>
            <a:off x="0" y="365125"/>
            <a:ext cx="10515600" cy="1325563"/>
          </a:xfrm>
        </p:spPr>
        <p:txBody>
          <a:bodyPr>
            <a:noAutofit/>
          </a:bodyPr>
          <a:lstStyle/>
          <a:p>
            <a:pPr>
              <a:lnSpc>
                <a:spcPct val="150000"/>
              </a:lnSpc>
            </a:pPr>
            <a:br>
              <a:rPr lang="en-US" sz="2000" dirty="0"/>
            </a:br>
            <a:r>
              <a:rPr lang="en-US" sz="2000" dirty="0"/>
              <a:t>    Flagged vs Actual</a:t>
            </a:r>
            <a:br>
              <a:rPr lang="en-US" sz="2000" dirty="0"/>
            </a:br>
            <a:br>
              <a:rPr lang="en-US" sz="2000" dirty="0"/>
            </a:br>
            <a:endParaRPr lang="en-IN" sz="2000" dirty="0"/>
          </a:p>
        </p:txBody>
      </p:sp>
      <p:pic>
        <p:nvPicPr>
          <p:cNvPr id="5" name="Picture 4">
            <a:extLst>
              <a:ext uri="{FF2B5EF4-FFF2-40B4-BE49-F238E27FC236}">
                <a16:creationId xmlns:a16="http://schemas.microsoft.com/office/drawing/2014/main" id="{32B0037C-048C-696D-97EC-E6737213CB70}"/>
              </a:ext>
            </a:extLst>
          </p:cNvPr>
          <p:cNvPicPr>
            <a:picLocks noChangeAspect="1"/>
          </p:cNvPicPr>
          <p:nvPr/>
        </p:nvPicPr>
        <p:blipFill>
          <a:blip r:embed="rId2"/>
          <a:stretch>
            <a:fillRect/>
          </a:stretch>
        </p:blipFill>
        <p:spPr>
          <a:xfrm>
            <a:off x="1499546" y="3109868"/>
            <a:ext cx="9192908" cy="638264"/>
          </a:xfrm>
          <a:prstGeom prst="rect">
            <a:avLst/>
          </a:prstGeom>
        </p:spPr>
      </p:pic>
    </p:spTree>
    <p:extLst>
      <p:ext uri="{BB962C8B-B14F-4D97-AF65-F5344CB8AC3E}">
        <p14:creationId xmlns:p14="http://schemas.microsoft.com/office/powerpoint/2010/main" val="3903115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D8C259-6B3C-52E3-B345-5A93EA06F385}"/>
              </a:ext>
            </a:extLst>
          </p:cNvPr>
          <p:cNvSpPr>
            <a:spLocks noGrp="1"/>
          </p:cNvSpPr>
          <p:nvPr>
            <p:ph idx="1"/>
          </p:nvPr>
        </p:nvSpPr>
        <p:spPr/>
        <p:txBody>
          <a:bodyPr>
            <a:normAutofit/>
          </a:bodyPr>
          <a:lstStyle/>
          <a:p>
            <a:pPr>
              <a:lnSpc>
                <a:spcPct val="150000"/>
              </a:lnSpc>
            </a:pPr>
            <a:r>
              <a:rPr lang="en-US" sz="1600" dirty="0"/>
              <a:t>How many accounts were involved in more than one fraud?</a:t>
            </a:r>
          </a:p>
          <a:p>
            <a:pPr marL="0" indent="0">
              <a:lnSpc>
                <a:spcPct val="150000"/>
              </a:lnSpc>
              <a:buNone/>
            </a:pPr>
            <a:endParaRPr lang="en-US" sz="1600" dirty="0"/>
          </a:p>
          <a:p>
            <a:pPr marL="0" indent="0">
              <a:lnSpc>
                <a:spcPct val="150000"/>
              </a:lnSpc>
              <a:buNone/>
            </a:pPr>
            <a:endParaRPr lang="en-US" sz="1600" dirty="0"/>
          </a:p>
          <a:p>
            <a:pPr marL="0" indent="0">
              <a:lnSpc>
                <a:spcPct val="150000"/>
              </a:lnSpc>
              <a:buNone/>
            </a:pPr>
            <a:endParaRPr lang="en-US" sz="1600" dirty="0"/>
          </a:p>
          <a:p>
            <a:pPr marL="0" indent="0">
              <a:lnSpc>
                <a:spcPct val="150000"/>
              </a:lnSpc>
              <a:buNone/>
            </a:pPr>
            <a:endParaRPr lang="en-US" sz="1600" dirty="0"/>
          </a:p>
          <a:p>
            <a:pPr marL="0" indent="0">
              <a:lnSpc>
                <a:spcPct val="150000"/>
              </a:lnSpc>
              <a:buNone/>
            </a:pPr>
            <a:endParaRPr lang="en-US" sz="1600" dirty="0"/>
          </a:p>
          <a:p>
            <a:pPr marL="0" indent="0">
              <a:lnSpc>
                <a:spcPct val="150000"/>
              </a:lnSpc>
              <a:buNone/>
            </a:pPr>
            <a:r>
              <a:rPr lang="en-US" sz="1600" b="1" dirty="0"/>
              <a:t>Zero accounts</a:t>
            </a:r>
            <a:r>
              <a:rPr lang="en-US" sz="1600" dirty="0"/>
              <a:t> were involved in more than one fraud, suggesting that </a:t>
            </a:r>
            <a:r>
              <a:rPr lang="en-US" sz="1600" b="1" dirty="0"/>
              <a:t>frauds were typically one-off incidents</a:t>
            </a:r>
            <a:r>
              <a:rPr lang="en-US" sz="1600" dirty="0"/>
              <a:t> per account, or fraudsters may be using </a:t>
            </a:r>
            <a:r>
              <a:rPr lang="en-US" sz="1600" b="1" dirty="0"/>
              <a:t>different accounts each time</a:t>
            </a:r>
            <a:r>
              <a:rPr lang="en-US" sz="1600" dirty="0"/>
              <a:t> to avoid detection.</a:t>
            </a:r>
          </a:p>
          <a:p>
            <a:pPr marL="0" indent="0">
              <a:lnSpc>
                <a:spcPct val="150000"/>
              </a:lnSpc>
              <a:buNone/>
            </a:pPr>
            <a:endParaRPr lang="en-US" sz="1600" dirty="0"/>
          </a:p>
          <a:p>
            <a:pPr>
              <a:lnSpc>
                <a:spcPct val="150000"/>
              </a:lnSpc>
            </a:pPr>
            <a:endParaRPr lang="en-US" sz="1600" dirty="0"/>
          </a:p>
          <a:p>
            <a:pPr>
              <a:lnSpc>
                <a:spcPct val="150000"/>
              </a:lnSpc>
            </a:pPr>
            <a:endParaRPr lang="en-US" sz="1600" dirty="0"/>
          </a:p>
          <a:p>
            <a:pPr>
              <a:lnSpc>
                <a:spcPct val="150000"/>
              </a:lnSpc>
            </a:pPr>
            <a:endParaRPr lang="en-IN" sz="1600" dirty="0"/>
          </a:p>
        </p:txBody>
      </p:sp>
      <p:sp>
        <p:nvSpPr>
          <p:cNvPr id="2" name="Title 1">
            <a:extLst>
              <a:ext uri="{FF2B5EF4-FFF2-40B4-BE49-F238E27FC236}">
                <a16:creationId xmlns:a16="http://schemas.microsoft.com/office/drawing/2014/main" id="{51C2BCAA-D13F-6146-66C9-ED95E22F54DF}"/>
              </a:ext>
            </a:extLst>
          </p:cNvPr>
          <p:cNvSpPr>
            <a:spLocks noGrp="1"/>
          </p:cNvSpPr>
          <p:nvPr>
            <p:ph type="title" idx="4294967295"/>
          </p:nvPr>
        </p:nvSpPr>
        <p:spPr>
          <a:xfrm>
            <a:off x="0" y="365125"/>
            <a:ext cx="10515600" cy="1325563"/>
          </a:xfrm>
        </p:spPr>
        <p:txBody>
          <a:bodyPr>
            <a:normAutofit/>
          </a:bodyPr>
          <a:lstStyle/>
          <a:p>
            <a:pPr>
              <a:lnSpc>
                <a:spcPct val="150000"/>
              </a:lnSpc>
            </a:pPr>
            <a:r>
              <a:rPr lang="en-IN" sz="2000" dirty="0"/>
              <a:t>    Repeated Fraudsters</a:t>
            </a:r>
            <a:br>
              <a:rPr lang="en-IN" sz="2000" dirty="0"/>
            </a:br>
            <a:endParaRPr lang="en-IN" sz="2000" dirty="0"/>
          </a:p>
        </p:txBody>
      </p:sp>
      <p:pic>
        <p:nvPicPr>
          <p:cNvPr id="5" name="Picture 4">
            <a:extLst>
              <a:ext uri="{FF2B5EF4-FFF2-40B4-BE49-F238E27FC236}">
                <a16:creationId xmlns:a16="http://schemas.microsoft.com/office/drawing/2014/main" id="{B913D86E-4BA1-C035-94DB-E38398FE38FE}"/>
              </a:ext>
            </a:extLst>
          </p:cNvPr>
          <p:cNvPicPr>
            <a:picLocks noChangeAspect="1"/>
          </p:cNvPicPr>
          <p:nvPr/>
        </p:nvPicPr>
        <p:blipFill>
          <a:blip r:embed="rId2"/>
          <a:stretch>
            <a:fillRect/>
          </a:stretch>
        </p:blipFill>
        <p:spPr>
          <a:xfrm>
            <a:off x="3781102" y="2785973"/>
            <a:ext cx="4629796" cy="1286054"/>
          </a:xfrm>
          <a:prstGeom prst="rect">
            <a:avLst/>
          </a:prstGeom>
        </p:spPr>
      </p:pic>
    </p:spTree>
    <p:extLst>
      <p:ext uri="{BB962C8B-B14F-4D97-AF65-F5344CB8AC3E}">
        <p14:creationId xmlns:p14="http://schemas.microsoft.com/office/powerpoint/2010/main" val="31282484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4D2078-6CD1-BE10-F364-C23902A39E0B}"/>
              </a:ext>
            </a:extLst>
          </p:cNvPr>
          <p:cNvSpPr>
            <a:spLocks noGrp="1"/>
          </p:cNvSpPr>
          <p:nvPr>
            <p:ph idx="1"/>
          </p:nvPr>
        </p:nvSpPr>
        <p:spPr/>
        <p:txBody>
          <a:bodyPr/>
          <a:lstStyle/>
          <a:p>
            <a:pPr>
              <a:lnSpc>
                <a:spcPct val="150000"/>
              </a:lnSpc>
            </a:pPr>
            <a:r>
              <a:rPr lang="en-US" sz="1600" dirty="0"/>
              <a:t> Which destination accounts were involved in most frauds?</a:t>
            </a:r>
          </a:p>
          <a:p>
            <a:pPr>
              <a:lnSpc>
                <a:spcPct val="150000"/>
              </a:lnSpc>
            </a:pPr>
            <a:endParaRPr lang="en-US" sz="1600" dirty="0"/>
          </a:p>
          <a:p>
            <a:pPr>
              <a:lnSpc>
                <a:spcPct val="150000"/>
              </a:lnSpc>
            </a:pPr>
            <a:endParaRPr lang="en-US" sz="1600" dirty="0"/>
          </a:p>
          <a:p>
            <a:pPr>
              <a:lnSpc>
                <a:spcPct val="150000"/>
              </a:lnSpc>
            </a:pPr>
            <a:endParaRPr lang="en-US" sz="1600" dirty="0"/>
          </a:p>
          <a:p>
            <a:pPr>
              <a:lnSpc>
                <a:spcPct val="150000"/>
              </a:lnSpc>
            </a:pPr>
            <a:endParaRPr lang="en-US" sz="1600" dirty="0"/>
          </a:p>
          <a:p>
            <a:pPr>
              <a:lnSpc>
                <a:spcPct val="150000"/>
              </a:lnSpc>
            </a:pPr>
            <a:endParaRPr lang="en-US" sz="1600" dirty="0"/>
          </a:p>
          <a:p>
            <a:pPr>
              <a:lnSpc>
                <a:spcPct val="150000"/>
              </a:lnSpc>
            </a:pPr>
            <a:r>
              <a:rPr lang="en-US" sz="1600" dirty="0"/>
              <a:t>Five destination accounts were each involved in </a:t>
            </a:r>
            <a:r>
              <a:rPr lang="en-US" sz="1600" b="1" dirty="0"/>
              <a:t>2 fraudulent transactions</a:t>
            </a:r>
            <a:r>
              <a:rPr lang="en-US" sz="1600" dirty="0"/>
              <a:t>. These accounts may be </a:t>
            </a:r>
            <a:r>
              <a:rPr lang="en-US" sz="1600" b="1" dirty="0"/>
              <a:t>repeat receivers</a:t>
            </a:r>
            <a:r>
              <a:rPr lang="en-US" sz="1600" dirty="0"/>
              <a:t> of fraudulent funds </a:t>
            </a:r>
            <a:endParaRPr lang="en-IN" sz="1600" dirty="0"/>
          </a:p>
        </p:txBody>
      </p:sp>
      <p:sp>
        <p:nvSpPr>
          <p:cNvPr id="2" name="Title 1">
            <a:extLst>
              <a:ext uri="{FF2B5EF4-FFF2-40B4-BE49-F238E27FC236}">
                <a16:creationId xmlns:a16="http://schemas.microsoft.com/office/drawing/2014/main" id="{9BD7E6B3-F796-C4D4-79B8-7C213CEFFD6E}"/>
              </a:ext>
            </a:extLst>
          </p:cNvPr>
          <p:cNvSpPr>
            <a:spLocks noGrp="1"/>
          </p:cNvSpPr>
          <p:nvPr>
            <p:ph type="title" idx="4294967295"/>
          </p:nvPr>
        </p:nvSpPr>
        <p:spPr>
          <a:xfrm>
            <a:off x="0" y="365125"/>
            <a:ext cx="10515600" cy="1325563"/>
          </a:xfrm>
        </p:spPr>
        <p:txBody>
          <a:bodyPr>
            <a:noAutofit/>
          </a:bodyPr>
          <a:lstStyle/>
          <a:p>
            <a:pPr>
              <a:lnSpc>
                <a:spcPct val="150000"/>
              </a:lnSpc>
            </a:pPr>
            <a:br>
              <a:rPr lang="en-IN" sz="2000" dirty="0"/>
            </a:br>
            <a:r>
              <a:rPr lang="en-IN" sz="2000" dirty="0"/>
              <a:t>    Top Fraud Destinations</a:t>
            </a:r>
            <a:br>
              <a:rPr lang="en-IN" sz="2000" dirty="0"/>
            </a:br>
            <a:endParaRPr lang="en-IN" sz="2000" dirty="0"/>
          </a:p>
        </p:txBody>
      </p:sp>
      <p:pic>
        <p:nvPicPr>
          <p:cNvPr id="7" name="Picture 6">
            <a:extLst>
              <a:ext uri="{FF2B5EF4-FFF2-40B4-BE49-F238E27FC236}">
                <a16:creationId xmlns:a16="http://schemas.microsoft.com/office/drawing/2014/main" id="{58FD000D-BEC7-4A1A-5A90-54B1618C53AC}"/>
              </a:ext>
            </a:extLst>
          </p:cNvPr>
          <p:cNvPicPr>
            <a:picLocks noChangeAspect="1"/>
          </p:cNvPicPr>
          <p:nvPr/>
        </p:nvPicPr>
        <p:blipFill>
          <a:blip r:embed="rId2"/>
          <a:stretch>
            <a:fillRect/>
          </a:stretch>
        </p:blipFill>
        <p:spPr>
          <a:xfrm>
            <a:off x="3623917" y="2824078"/>
            <a:ext cx="4944165" cy="1209844"/>
          </a:xfrm>
          <a:prstGeom prst="rect">
            <a:avLst/>
          </a:prstGeom>
        </p:spPr>
      </p:pic>
    </p:spTree>
    <p:extLst>
      <p:ext uri="{BB962C8B-B14F-4D97-AF65-F5344CB8AC3E}">
        <p14:creationId xmlns:p14="http://schemas.microsoft.com/office/powerpoint/2010/main" val="41066659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B10AB9-CBDC-F32C-1C40-821DA91D481A}"/>
              </a:ext>
            </a:extLst>
          </p:cNvPr>
          <p:cNvSpPr>
            <a:spLocks noGrp="1"/>
          </p:cNvSpPr>
          <p:nvPr>
            <p:ph idx="1"/>
          </p:nvPr>
        </p:nvSpPr>
        <p:spPr/>
        <p:txBody>
          <a:bodyPr>
            <a:normAutofit/>
          </a:bodyPr>
          <a:lstStyle/>
          <a:p>
            <a:pPr>
              <a:lnSpc>
                <a:spcPct val="150000"/>
              </a:lnSpc>
            </a:pPr>
            <a:r>
              <a:rPr lang="en-US" sz="1600" dirty="0"/>
              <a:t>Which transaction types were most frequently flagged as fraud?</a:t>
            </a:r>
          </a:p>
          <a:p>
            <a:pPr>
              <a:lnSpc>
                <a:spcPct val="150000"/>
              </a:lnSpc>
            </a:pPr>
            <a:endParaRPr lang="en-US" sz="1600" dirty="0"/>
          </a:p>
          <a:p>
            <a:pPr>
              <a:lnSpc>
                <a:spcPct val="150000"/>
              </a:lnSpc>
            </a:pPr>
            <a:endParaRPr lang="en-US" sz="1600" dirty="0"/>
          </a:p>
          <a:p>
            <a:pPr>
              <a:lnSpc>
                <a:spcPct val="150000"/>
              </a:lnSpc>
            </a:pPr>
            <a:endParaRPr lang="en-US" sz="1600" dirty="0"/>
          </a:p>
          <a:p>
            <a:pPr>
              <a:lnSpc>
                <a:spcPct val="150000"/>
              </a:lnSpc>
            </a:pPr>
            <a:endParaRPr lang="en-US" sz="1600" dirty="0"/>
          </a:p>
          <a:p>
            <a:pPr>
              <a:lnSpc>
                <a:spcPct val="150000"/>
              </a:lnSpc>
            </a:pPr>
            <a:r>
              <a:rPr lang="en-US" sz="1600" dirty="0"/>
              <a:t>All </a:t>
            </a:r>
            <a:r>
              <a:rPr lang="en-US" sz="1600" b="1" dirty="0"/>
              <a:t>16 flagged transactions</a:t>
            </a:r>
            <a:r>
              <a:rPr lang="en-US" sz="1600" dirty="0"/>
              <a:t> were of type </a:t>
            </a:r>
            <a:r>
              <a:rPr lang="en-US" sz="1600" b="1" dirty="0"/>
              <a:t>TRANSFER</a:t>
            </a:r>
            <a:r>
              <a:rPr lang="en-US" sz="1600" dirty="0"/>
              <a:t>, confirming that the system’s </a:t>
            </a:r>
            <a:r>
              <a:rPr lang="en-US" sz="1600" b="1" dirty="0"/>
              <a:t>flagging mechanism targets only one transaction type</a:t>
            </a:r>
            <a:r>
              <a:rPr lang="en-US" sz="1600" dirty="0"/>
              <a:t>. </a:t>
            </a:r>
          </a:p>
          <a:p>
            <a:pPr>
              <a:lnSpc>
                <a:spcPct val="150000"/>
              </a:lnSpc>
            </a:pPr>
            <a:endParaRPr lang="en-IN" sz="1600" dirty="0"/>
          </a:p>
        </p:txBody>
      </p:sp>
      <p:sp>
        <p:nvSpPr>
          <p:cNvPr id="2" name="Title 1">
            <a:extLst>
              <a:ext uri="{FF2B5EF4-FFF2-40B4-BE49-F238E27FC236}">
                <a16:creationId xmlns:a16="http://schemas.microsoft.com/office/drawing/2014/main" id="{EABE4EC2-F768-7CB7-49B4-D8C98196B56D}"/>
              </a:ext>
            </a:extLst>
          </p:cNvPr>
          <p:cNvSpPr>
            <a:spLocks noGrp="1"/>
          </p:cNvSpPr>
          <p:nvPr>
            <p:ph type="title" idx="4294967295"/>
          </p:nvPr>
        </p:nvSpPr>
        <p:spPr>
          <a:xfrm>
            <a:off x="0" y="365125"/>
            <a:ext cx="10515600" cy="1325563"/>
          </a:xfrm>
        </p:spPr>
        <p:txBody>
          <a:bodyPr>
            <a:noAutofit/>
          </a:bodyPr>
          <a:lstStyle/>
          <a:p>
            <a:pPr>
              <a:lnSpc>
                <a:spcPct val="150000"/>
              </a:lnSpc>
            </a:pPr>
            <a:br>
              <a:rPr lang="en-IN" sz="2000" dirty="0"/>
            </a:br>
            <a:r>
              <a:rPr lang="en-IN" sz="2000" dirty="0"/>
              <a:t>    Type vs Flagged Fraud</a:t>
            </a:r>
            <a:br>
              <a:rPr lang="en-IN" sz="2000" dirty="0"/>
            </a:br>
            <a:endParaRPr lang="en-IN" sz="2000" dirty="0"/>
          </a:p>
        </p:txBody>
      </p:sp>
      <p:pic>
        <p:nvPicPr>
          <p:cNvPr id="5" name="Picture 4">
            <a:extLst>
              <a:ext uri="{FF2B5EF4-FFF2-40B4-BE49-F238E27FC236}">
                <a16:creationId xmlns:a16="http://schemas.microsoft.com/office/drawing/2014/main" id="{9CFCA655-F7BB-266D-3815-25F4E31F1F5F}"/>
              </a:ext>
            </a:extLst>
          </p:cNvPr>
          <p:cNvPicPr>
            <a:picLocks noChangeAspect="1"/>
          </p:cNvPicPr>
          <p:nvPr/>
        </p:nvPicPr>
        <p:blipFill>
          <a:blip r:embed="rId3"/>
          <a:stretch>
            <a:fillRect/>
          </a:stretch>
        </p:blipFill>
        <p:spPr>
          <a:xfrm>
            <a:off x="2442276" y="2481644"/>
            <a:ext cx="5106113" cy="1057423"/>
          </a:xfrm>
          <a:prstGeom prst="rect">
            <a:avLst/>
          </a:prstGeom>
        </p:spPr>
      </p:pic>
    </p:spTree>
    <p:extLst>
      <p:ext uri="{BB962C8B-B14F-4D97-AF65-F5344CB8AC3E}">
        <p14:creationId xmlns:p14="http://schemas.microsoft.com/office/powerpoint/2010/main" val="42181912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B8C74E-9C94-EF2D-3797-E112C877E8B8}"/>
              </a:ext>
            </a:extLst>
          </p:cNvPr>
          <p:cNvSpPr>
            <a:spLocks noGrp="1"/>
          </p:cNvSpPr>
          <p:nvPr>
            <p:ph idx="1"/>
          </p:nvPr>
        </p:nvSpPr>
        <p:spPr/>
        <p:txBody>
          <a:bodyPr/>
          <a:lstStyle/>
          <a:p>
            <a:pPr>
              <a:lnSpc>
                <a:spcPct val="150000"/>
              </a:lnSpc>
            </a:pPr>
            <a:r>
              <a:rPr lang="en-US" sz="1600" dirty="0"/>
              <a:t>At which transaction steps does fraud occur most frequently?</a:t>
            </a:r>
          </a:p>
          <a:p>
            <a:pPr>
              <a:lnSpc>
                <a:spcPct val="150000"/>
              </a:lnSpc>
            </a:pPr>
            <a:endParaRPr lang="en-US" sz="1600" dirty="0"/>
          </a:p>
          <a:p>
            <a:pPr>
              <a:lnSpc>
                <a:spcPct val="150000"/>
              </a:lnSpc>
            </a:pPr>
            <a:endParaRPr lang="en-US" sz="1600" dirty="0"/>
          </a:p>
          <a:p>
            <a:pPr>
              <a:lnSpc>
                <a:spcPct val="150000"/>
              </a:lnSpc>
            </a:pPr>
            <a:r>
              <a:rPr lang="en-US" sz="1600" dirty="0"/>
              <a:t>                                           </a:t>
            </a:r>
          </a:p>
          <a:p>
            <a:pPr>
              <a:lnSpc>
                <a:spcPct val="150000"/>
              </a:lnSpc>
            </a:pPr>
            <a:endParaRPr lang="en-US" sz="1600" dirty="0"/>
          </a:p>
          <a:p>
            <a:pPr>
              <a:lnSpc>
                <a:spcPct val="150000"/>
              </a:lnSpc>
            </a:pPr>
            <a:endParaRPr lang="en-US" sz="1600" dirty="0"/>
          </a:p>
          <a:p>
            <a:pPr>
              <a:lnSpc>
                <a:spcPct val="150000"/>
              </a:lnSpc>
            </a:pPr>
            <a:r>
              <a:rPr lang="en-US" sz="1600" dirty="0"/>
              <a:t>Fraudulent transactions peaked at simulation step 212, with 40 cases, suggesting that fraud is more likely to occur at specific time intervals in the system.</a:t>
            </a:r>
            <a:endParaRPr lang="en-IN" sz="1600" dirty="0"/>
          </a:p>
        </p:txBody>
      </p:sp>
      <p:sp>
        <p:nvSpPr>
          <p:cNvPr id="2" name="Title 1">
            <a:extLst>
              <a:ext uri="{FF2B5EF4-FFF2-40B4-BE49-F238E27FC236}">
                <a16:creationId xmlns:a16="http://schemas.microsoft.com/office/drawing/2014/main" id="{AF607D27-19A8-F7C1-8651-E15E705929C0}"/>
              </a:ext>
            </a:extLst>
          </p:cNvPr>
          <p:cNvSpPr>
            <a:spLocks noGrp="1"/>
          </p:cNvSpPr>
          <p:nvPr>
            <p:ph type="title" idx="4294967295"/>
          </p:nvPr>
        </p:nvSpPr>
        <p:spPr>
          <a:xfrm>
            <a:off x="0" y="365125"/>
            <a:ext cx="10515600" cy="1325563"/>
          </a:xfrm>
        </p:spPr>
        <p:txBody>
          <a:bodyPr>
            <a:normAutofit/>
          </a:bodyPr>
          <a:lstStyle/>
          <a:p>
            <a:pPr>
              <a:lnSpc>
                <a:spcPct val="150000"/>
              </a:lnSpc>
            </a:pPr>
            <a:r>
              <a:rPr lang="en-IN" sz="2000" dirty="0"/>
              <a:t>   Fraud by Step</a:t>
            </a:r>
          </a:p>
        </p:txBody>
      </p:sp>
      <p:pic>
        <p:nvPicPr>
          <p:cNvPr id="6" name="Picture 5">
            <a:extLst>
              <a:ext uri="{FF2B5EF4-FFF2-40B4-BE49-F238E27FC236}">
                <a16:creationId xmlns:a16="http://schemas.microsoft.com/office/drawing/2014/main" id="{750530AC-8869-CEB5-0BBF-6A95E2F60EB2}"/>
              </a:ext>
            </a:extLst>
          </p:cNvPr>
          <p:cNvPicPr>
            <a:picLocks noChangeAspect="1"/>
          </p:cNvPicPr>
          <p:nvPr/>
        </p:nvPicPr>
        <p:blipFill>
          <a:blip r:embed="rId2"/>
          <a:stretch>
            <a:fillRect/>
          </a:stretch>
        </p:blipFill>
        <p:spPr>
          <a:xfrm>
            <a:off x="2074331" y="2957446"/>
            <a:ext cx="7480102" cy="1496021"/>
          </a:xfrm>
          <a:prstGeom prst="rect">
            <a:avLst/>
          </a:prstGeom>
        </p:spPr>
      </p:pic>
    </p:spTree>
    <p:extLst>
      <p:ext uri="{BB962C8B-B14F-4D97-AF65-F5344CB8AC3E}">
        <p14:creationId xmlns:p14="http://schemas.microsoft.com/office/powerpoint/2010/main" val="6463365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D2130D-010D-5141-96CE-10B59333F2BD}"/>
              </a:ext>
            </a:extLst>
          </p:cNvPr>
          <p:cNvSpPr>
            <a:spLocks noGrp="1"/>
          </p:cNvSpPr>
          <p:nvPr>
            <p:ph idx="1"/>
          </p:nvPr>
        </p:nvSpPr>
        <p:spPr/>
        <p:txBody>
          <a:bodyPr>
            <a:normAutofit fontScale="92500" lnSpcReduction="10000"/>
          </a:bodyPr>
          <a:lstStyle/>
          <a:p>
            <a:pPr>
              <a:lnSpc>
                <a:spcPct val="150000"/>
              </a:lnSpc>
            </a:pPr>
            <a:r>
              <a:rPr lang="en-US" sz="1600" dirty="0"/>
              <a:t>What is the fraud percentage over time (per step)?</a:t>
            </a:r>
          </a:p>
          <a:p>
            <a:pPr>
              <a:lnSpc>
                <a:spcPct val="150000"/>
              </a:lnSpc>
            </a:pPr>
            <a:endParaRPr lang="en-US" sz="1600" dirty="0"/>
          </a:p>
          <a:p>
            <a:pPr>
              <a:lnSpc>
                <a:spcPct val="150000"/>
              </a:lnSpc>
            </a:pPr>
            <a:endParaRPr lang="en-US" sz="1600" dirty="0"/>
          </a:p>
          <a:p>
            <a:pPr>
              <a:lnSpc>
                <a:spcPct val="150000"/>
              </a:lnSpc>
            </a:pPr>
            <a:endParaRPr lang="en-US" sz="1600" dirty="0"/>
          </a:p>
          <a:p>
            <a:pPr>
              <a:lnSpc>
                <a:spcPct val="150000"/>
              </a:lnSpc>
            </a:pPr>
            <a:endParaRPr lang="en-US" sz="1600" dirty="0"/>
          </a:p>
          <a:p>
            <a:pPr>
              <a:lnSpc>
                <a:spcPct val="150000"/>
              </a:lnSpc>
            </a:pPr>
            <a:endParaRPr lang="en-US" sz="1600" dirty="0"/>
          </a:p>
          <a:p>
            <a:pPr>
              <a:lnSpc>
                <a:spcPct val="150000"/>
              </a:lnSpc>
            </a:pPr>
            <a:endParaRPr lang="en-US" sz="1600" dirty="0"/>
          </a:p>
          <a:p>
            <a:pPr>
              <a:lnSpc>
                <a:spcPct val="150000"/>
              </a:lnSpc>
            </a:pPr>
            <a:r>
              <a:rPr lang="en-US" sz="1600" dirty="0"/>
              <a:t>Fraud changes over time. Steps 1–6 had some fraud, maybe early testing. Steps 7–20 were stable with very little fraud. Steps 25–32 showed sudden jumps, likely attacks. Steps 50–90 had high fraud, maybe from bots. After Step 93, fraud dropped and the system became stable again</a:t>
            </a:r>
            <a:endParaRPr lang="en-IN" sz="1600" dirty="0"/>
          </a:p>
        </p:txBody>
      </p:sp>
      <p:sp>
        <p:nvSpPr>
          <p:cNvPr id="2" name="Title 1">
            <a:extLst>
              <a:ext uri="{FF2B5EF4-FFF2-40B4-BE49-F238E27FC236}">
                <a16:creationId xmlns:a16="http://schemas.microsoft.com/office/drawing/2014/main" id="{0A9FAF4A-6EBE-8CE9-223A-ABA6E1CA5712}"/>
              </a:ext>
            </a:extLst>
          </p:cNvPr>
          <p:cNvSpPr>
            <a:spLocks noGrp="1"/>
          </p:cNvSpPr>
          <p:nvPr>
            <p:ph type="title" idx="4294967295"/>
          </p:nvPr>
        </p:nvSpPr>
        <p:spPr>
          <a:xfrm>
            <a:off x="0" y="365125"/>
            <a:ext cx="10515600" cy="1325563"/>
          </a:xfrm>
        </p:spPr>
        <p:txBody>
          <a:bodyPr>
            <a:noAutofit/>
          </a:bodyPr>
          <a:lstStyle/>
          <a:p>
            <a:pPr>
              <a:lnSpc>
                <a:spcPct val="150000"/>
              </a:lnSpc>
            </a:pPr>
            <a:br>
              <a:rPr lang="en-IN" sz="2000" dirty="0"/>
            </a:br>
            <a:r>
              <a:rPr lang="en-IN" sz="2000" dirty="0"/>
              <a:t>    Fraud Rate Over Time</a:t>
            </a:r>
            <a:br>
              <a:rPr lang="en-IN" sz="2000" dirty="0"/>
            </a:br>
            <a:endParaRPr lang="en-IN" sz="2000" dirty="0"/>
          </a:p>
        </p:txBody>
      </p:sp>
      <p:pic>
        <p:nvPicPr>
          <p:cNvPr id="5" name="Picture 4">
            <a:extLst>
              <a:ext uri="{FF2B5EF4-FFF2-40B4-BE49-F238E27FC236}">
                <a16:creationId xmlns:a16="http://schemas.microsoft.com/office/drawing/2014/main" id="{69378520-37AC-6601-42D5-6F1CED4A4484}"/>
              </a:ext>
            </a:extLst>
          </p:cNvPr>
          <p:cNvPicPr>
            <a:picLocks noChangeAspect="1"/>
          </p:cNvPicPr>
          <p:nvPr/>
        </p:nvPicPr>
        <p:blipFill>
          <a:blip r:embed="rId2"/>
          <a:stretch>
            <a:fillRect/>
          </a:stretch>
        </p:blipFill>
        <p:spPr>
          <a:xfrm>
            <a:off x="2818942" y="2752630"/>
            <a:ext cx="6554115" cy="1352739"/>
          </a:xfrm>
          <a:prstGeom prst="rect">
            <a:avLst/>
          </a:prstGeom>
        </p:spPr>
      </p:pic>
    </p:spTree>
    <p:extLst>
      <p:ext uri="{BB962C8B-B14F-4D97-AF65-F5344CB8AC3E}">
        <p14:creationId xmlns:p14="http://schemas.microsoft.com/office/powerpoint/2010/main" val="24279515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ustom 1">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969</TotalTime>
  <Words>1011</Words>
  <Application>Microsoft Office PowerPoint</Application>
  <PresentationFormat>Widescreen</PresentationFormat>
  <Paragraphs>187</Paragraphs>
  <Slides>24</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Aptos</vt:lpstr>
      <vt:lpstr>Arial</vt:lpstr>
      <vt:lpstr>Arial Black</vt:lpstr>
      <vt:lpstr>Office Theme</vt:lpstr>
      <vt:lpstr>Detecting Fraud in Financial Transactions using SQL </vt:lpstr>
      <vt:lpstr>         Project Summary </vt:lpstr>
      <vt:lpstr>    Objective </vt:lpstr>
      <vt:lpstr>     Dataset Overview </vt:lpstr>
      <vt:lpstr>       Summary Statistics </vt:lpstr>
      <vt:lpstr>     Transaction Types </vt:lpstr>
      <vt:lpstr>     Fraud Types </vt:lpstr>
      <vt:lpstr>     Avg Amount </vt:lpstr>
      <vt:lpstr>     Flagged Accounts </vt:lpstr>
      <vt:lpstr>      Frequent Destinations </vt:lpstr>
      <vt:lpstr>     Top Senders </vt:lpstr>
      <vt:lpstr>     Avg Balance </vt:lpstr>
      <vt:lpstr>     Type-wise Avg </vt:lpstr>
      <vt:lpstr>    Type-wise Fraud </vt:lpstr>
      <vt:lpstr>      Unchanged Origin Balance</vt:lpstr>
      <vt:lpstr>      Unchanged Destination Balance  </vt:lpstr>
      <vt:lpstr>    Static Balances in Fraud </vt:lpstr>
      <vt:lpstr>     Flagging System </vt:lpstr>
      <vt:lpstr>     Flagged vs Actual  </vt:lpstr>
      <vt:lpstr>    Repeated Fraudsters </vt:lpstr>
      <vt:lpstr>     Top Fraud Destinations </vt:lpstr>
      <vt:lpstr>     Type vs Flagged Fraud </vt:lpstr>
      <vt:lpstr>   Fraud by Step</vt:lpstr>
      <vt:lpstr>     Fraud Rate Over Time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Raz</dc:creator>
  <cp:lastModifiedBy>Raz</cp:lastModifiedBy>
  <cp:revision>8</cp:revision>
  <dcterms:created xsi:type="dcterms:W3CDTF">2025-05-04T18:14:10Z</dcterms:created>
  <dcterms:modified xsi:type="dcterms:W3CDTF">2025-05-12T10:48:29Z</dcterms:modified>
</cp:coreProperties>
</file>